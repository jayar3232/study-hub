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8288000" cy="10287000"/>
  <p:notesSz cx="6858000" cy="9144000"/>
  <p:embeddedFontLst>
    <p:embeddedFont>
      <p:font typeface="Montserrat Bold" charset="1" panose="00000800000000000000"/>
      <p:regular r:id="rId62"/>
    </p:embeddedFont>
    <p:embeddedFont>
      <p:font typeface="Arial" charset="1" panose="020B0604020202020204"/>
      <p:regular r:id="rId63"/>
    </p:embeddedFont>
    <p:embeddedFont>
      <p:font typeface="Arial Bold" charset="1" panose="020B0704020202020204"/>
      <p:regular r:id="rId64"/>
    </p:embeddedFont>
    <p:embeddedFont>
      <p:font typeface="Arial Italics" charset="1" panose="020B0604020202090204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1137" y="2689641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6" y="0"/>
                </a:lnTo>
                <a:lnTo>
                  <a:pt x="3426486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19623" y="-2218087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6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6" y="0"/>
                </a:lnTo>
                <a:lnTo>
                  <a:pt x="3426486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410546"/>
            <a:ext cx="6960508" cy="1350683"/>
          </a:xfrm>
          <a:custGeom>
            <a:avLst/>
            <a:gdLst/>
            <a:ahLst/>
            <a:cxnLst/>
            <a:rect r="r" b="b" t="t" l="l"/>
            <a:pathLst>
              <a:path h="1350683" w="6960508">
                <a:moveTo>
                  <a:pt x="0" y="0"/>
                </a:moveTo>
                <a:lnTo>
                  <a:pt x="6960508" y="0"/>
                </a:lnTo>
                <a:lnTo>
                  <a:pt x="6960508" y="1350684"/>
                </a:lnTo>
                <a:lnTo>
                  <a:pt x="0" y="135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05" r="0" b="-404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9898028" y="525770"/>
            <a:ext cx="7361272" cy="1428445"/>
          </a:xfrm>
          <a:custGeom>
            <a:avLst/>
            <a:gdLst/>
            <a:ahLst/>
            <a:cxnLst/>
            <a:rect r="r" b="b" t="t" l="l"/>
            <a:pathLst>
              <a:path h="1428445" w="7361272">
                <a:moveTo>
                  <a:pt x="7361272" y="1428446"/>
                </a:moveTo>
                <a:lnTo>
                  <a:pt x="0" y="1428446"/>
                </a:lnTo>
                <a:lnTo>
                  <a:pt x="0" y="0"/>
                </a:lnTo>
                <a:lnTo>
                  <a:pt x="7361272" y="0"/>
                </a:lnTo>
                <a:lnTo>
                  <a:pt x="7361272" y="14284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3" r="0" b="-33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06863" y="2613441"/>
            <a:ext cx="13474275" cy="306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3"/>
              </a:lnSpc>
            </a:pPr>
            <a:r>
              <a:rPr lang="en-US" sz="9642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OF VARIANCE (ANOVA)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8954" y="6417974"/>
            <a:ext cx="9270092" cy="100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5"/>
              </a:lnSpc>
            </a:pPr>
            <a:r>
              <a:rPr lang="en-US" sz="4961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IT 221 - Quantitative Methods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75039" y="6116250"/>
            <a:ext cx="9336767" cy="109538"/>
            <a:chOff x="0" y="0"/>
            <a:chExt cx="12449023" cy="146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196" y="0"/>
              <a:ext cx="12360529" cy="146050"/>
            </a:xfrm>
            <a:custGeom>
              <a:avLst/>
              <a:gdLst/>
              <a:ahLst/>
              <a:cxnLst/>
              <a:rect r="r" b="b" t="t" l="l"/>
              <a:pathLst>
                <a:path h="146050" w="12360529">
                  <a:moveTo>
                    <a:pt x="0" y="57150"/>
                  </a:moveTo>
                  <a:lnTo>
                    <a:pt x="12360148" y="0"/>
                  </a:lnTo>
                  <a:lnTo>
                    <a:pt x="12360529" y="88900"/>
                  </a:lnTo>
                  <a:lnTo>
                    <a:pt x="508" y="14605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1238" y="8797871"/>
            <a:ext cx="7826216" cy="84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Group 4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3084" y="392440"/>
            <a:ext cx="7826216" cy="84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Week 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627533" y="7115727"/>
            <a:ext cx="1198912" cy="1198912"/>
          </a:xfrm>
          <a:custGeom>
            <a:avLst/>
            <a:gdLst/>
            <a:ahLst/>
            <a:cxnLst/>
            <a:rect r="r" b="b" t="t" l="l"/>
            <a:pathLst>
              <a:path h="1198912" w="1198912">
                <a:moveTo>
                  <a:pt x="0" y="0"/>
                </a:moveTo>
                <a:lnTo>
                  <a:pt x="1198912" y="0"/>
                </a:lnTo>
                <a:lnTo>
                  <a:pt x="1198912" y="1198912"/>
                </a:lnTo>
                <a:lnTo>
                  <a:pt x="0" y="119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47108" y="1531553"/>
            <a:ext cx="10673610" cy="14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8"/>
              </a:lnSpc>
            </a:pPr>
            <a:r>
              <a:rPr lang="en-US" sz="78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ANOVA?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7108" y="3271771"/>
            <a:ext cx="12593793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ADED6"/>
                </a:solidFill>
                <a:latin typeface="Arial Bold"/>
                <a:ea typeface="Arial Bold"/>
                <a:cs typeface="Arial Bold"/>
                <a:sym typeface="Arial Bold"/>
              </a:rPr>
              <a:t>ANOVA (Analysis of Variance)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a statistical method used to compare the means of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three or more groups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to determine if there is a significant difference among them.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7108" y="5596823"/>
            <a:ext cx="13726782" cy="131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7"/>
              </a:lnSpc>
            </a:pPr>
            <a:r>
              <a:rPr lang="en-US" sz="6934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 MAIN TYPES OF ANOVA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83909" y="7134273"/>
            <a:ext cx="5728668" cy="93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6"/>
              </a:lnSpc>
            </a:pPr>
            <a:r>
              <a:rPr lang="en-US" sz="4683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One-way ANOVA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27533" y="8573710"/>
            <a:ext cx="1198912" cy="1198912"/>
          </a:xfrm>
          <a:custGeom>
            <a:avLst/>
            <a:gdLst/>
            <a:ahLst/>
            <a:cxnLst/>
            <a:rect r="r" b="b" t="t" l="l"/>
            <a:pathLst>
              <a:path h="1198912" w="1198912">
                <a:moveTo>
                  <a:pt x="0" y="0"/>
                </a:moveTo>
                <a:lnTo>
                  <a:pt x="1198912" y="0"/>
                </a:lnTo>
                <a:lnTo>
                  <a:pt x="1198912" y="1198911"/>
                </a:lnTo>
                <a:lnTo>
                  <a:pt x="0" y="1198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183909" y="8592264"/>
            <a:ext cx="5728668" cy="93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6"/>
              </a:lnSpc>
            </a:pPr>
            <a:r>
              <a:rPr lang="en-US" sz="4683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Two-way ANOVA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1573" y="7265889"/>
            <a:ext cx="721681" cy="74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5"/>
              </a:lnSpc>
            </a:pPr>
            <a:r>
              <a:rPr lang="en-US" sz="3897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60724" y="8719414"/>
            <a:ext cx="732530" cy="75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3956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15975" y="7691838"/>
            <a:ext cx="916924" cy="663616"/>
          </a:xfrm>
          <a:custGeom>
            <a:avLst/>
            <a:gdLst/>
            <a:ahLst/>
            <a:cxnLst/>
            <a:rect r="r" b="b" t="t" l="l"/>
            <a:pathLst>
              <a:path h="663616" w="916924">
                <a:moveTo>
                  <a:pt x="0" y="0"/>
                </a:moveTo>
                <a:lnTo>
                  <a:pt x="916924" y="0"/>
                </a:lnTo>
                <a:lnTo>
                  <a:pt x="916924" y="663616"/>
                </a:lnTo>
                <a:lnTo>
                  <a:pt x="0" y="663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5" t="0" r="-14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6353" y="1447229"/>
            <a:ext cx="10673610" cy="1604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0"/>
              </a:lnSpc>
            </a:pPr>
            <a:r>
              <a:rPr lang="en-US" sz="845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ONE-WAY ANOVA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7108" y="2928033"/>
            <a:ext cx="13015541" cy="352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One-Way ANOVA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(Analysis of Variance) is a statistical method used to determine whether there are significant differences between the means of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three or more groups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based on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one independent variable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(factor)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one dependent variable.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7108" y="6302864"/>
            <a:ext cx="10673610" cy="131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2"/>
              </a:lnSpc>
            </a:pPr>
            <a:r>
              <a:rPr lang="en-US" sz="693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0711" y="7603988"/>
            <a:ext cx="9920392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Comparing the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test scores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of students from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3 different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teaching methods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04600" y="4919424"/>
            <a:ext cx="47625" cy="3865369"/>
            <a:chOff x="0" y="0"/>
            <a:chExt cx="63500" cy="5153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1750"/>
              <a:ext cx="63500" cy="5090287"/>
            </a:xfrm>
            <a:custGeom>
              <a:avLst/>
              <a:gdLst/>
              <a:ahLst/>
              <a:cxnLst/>
              <a:rect r="r" b="b" t="t" l="l"/>
              <a:pathLst>
                <a:path h="5090287" w="63500">
                  <a:moveTo>
                    <a:pt x="0" y="5090287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5090287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526318" y="4649867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6353" y="1792996"/>
            <a:ext cx="12593793" cy="18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ASSUMPTIONS OF ONE-WAY ANOVA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6353" y="3672602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Before applying ANOVA, these conditions must be met: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70986" y="4459367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Independence of observations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0986" y="5246132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Each group must be independent from the others.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70986" y="6032897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Normality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70986" y="6804536"/>
            <a:ext cx="10814714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Data in each group should be approximately normally distributed.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70986" y="8277101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Homogeneity of variance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70986" y="9044816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Variances of all groups should be equal.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526318" y="6205947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26318" y="8441884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89"/>
                </a:lnTo>
                <a:lnTo>
                  <a:pt x="0" y="604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0472" y="1588780"/>
            <a:ext cx="12593793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PROCEDURE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39232" y="2525401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State hypotheses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39232" y="3190208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Define the null and alternative hypotheses.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39232" y="3915061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Set significance level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39232" y="5970556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Compare variation between groups.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39232" y="5307616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Compute ANOVA table (F-value)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10414" y="2906239"/>
            <a:ext cx="47625" cy="5617969"/>
            <a:chOff x="0" y="0"/>
            <a:chExt cx="63500" cy="74906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31750"/>
              <a:ext cx="63500" cy="7427087"/>
            </a:xfrm>
            <a:custGeom>
              <a:avLst/>
              <a:gdLst/>
              <a:ahLst/>
              <a:cxnLst/>
              <a:rect r="r" b="b" t="t" l="l"/>
              <a:pathLst>
                <a:path h="7427087" w="63500">
                  <a:moveTo>
                    <a:pt x="0" y="7427087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7427087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4632131" y="2707186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32131" y="5489391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632131" y="4096836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39232" y="4578001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Usually α = 0.0 (5% margin of error).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39232" y="6700171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Compare p-value with 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39232" y="7286911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Check if p-value is less than or greater than α.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39232" y="8016526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Make a decision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39232" y="8672789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Reject or fail to reject null hypothesis.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632131" y="6873221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632131" y="8189576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429211" y="2630653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29211" y="4020302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29211" y="5412857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29211" y="6796688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29211" y="8111776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72591" y="3652809"/>
            <a:ext cx="535791" cy="387782"/>
          </a:xfrm>
          <a:custGeom>
            <a:avLst/>
            <a:gdLst/>
            <a:ahLst/>
            <a:cxnLst/>
            <a:rect r="r" b="b" t="t" l="l"/>
            <a:pathLst>
              <a:path h="387782" w="535791">
                <a:moveTo>
                  <a:pt x="0" y="0"/>
                </a:moveTo>
                <a:lnTo>
                  <a:pt x="535791" y="0"/>
                </a:lnTo>
                <a:lnTo>
                  <a:pt x="535791" y="387782"/>
                </a:lnTo>
                <a:lnTo>
                  <a:pt x="0" y="387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9" t="0" r="-309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138436" y="5143500"/>
          <a:ext cx="7620000" cy="3657600"/>
        </p:xfrm>
        <a:graphic>
          <a:graphicData uri="http://schemas.openxmlformats.org/drawingml/2006/table">
            <a:tbl>
              <a:tblPr/>
              <a:tblGrid>
                <a:gridCol w="4825571"/>
                <a:gridCol w="2794429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712" y="1928184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1640" y="2665743"/>
            <a:ext cx="115547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2132" y="3366783"/>
            <a:ext cx="12820002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There is no significant difference in the mean test scores among the three teaching methods.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9631" y="5233797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Teaching Methods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7913" y="5233797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Mean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9631" y="6168066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Traditional method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9631" y="7059206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 method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09631" y="7946136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Blended method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8546" y="6168066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38546" y="7059206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38546" y="7986722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11348" y="9144362"/>
            <a:ext cx="5069615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Significance level (α)</a:t>
            </a:r>
            <a:r>
              <a:rPr lang="en-US" sz="30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  = 0.05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67331" y="9144362"/>
            <a:ext cx="4594803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p-value </a:t>
            </a:r>
            <a:r>
              <a:rPr lang="en-US" sz="30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= 0.02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3712" y="2321881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3999" y="3086567"/>
            <a:ext cx="12820002" cy="352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p-value (0.02) &lt; α (0.05)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, we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reject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the null hypothesis (H₀). Therefor,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there is a significant difference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in the mean test scores among the three teaching methods. This implies that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at least one method performs differently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compared to the others.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15975" y="7213244"/>
            <a:ext cx="916924" cy="663616"/>
          </a:xfrm>
          <a:custGeom>
            <a:avLst/>
            <a:gdLst/>
            <a:ahLst/>
            <a:cxnLst/>
            <a:rect r="r" b="b" t="t" l="l"/>
            <a:pathLst>
              <a:path h="663616" w="916924">
                <a:moveTo>
                  <a:pt x="0" y="0"/>
                </a:moveTo>
                <a:lnTo>
                  <a:pt x="916924" y="0"/>
                </a:lnTo>
                <a:lnTo>
                  <a:pt x="916924" y="663617"/>
                </a:lnTo>
                <a:lnTo>
                  <a:pt x="0" y="663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5" t="0" r="-14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47108" y="1577845"/>
            <a:ext cx="10673610" cy="1604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0"/>
              </a:lnSpc>
            </a:pPr>
            <a:r>
              <a:rPr lang="en-US" sz="845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TWO-WAY ANOVA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7108" y="3363449"/>
            <a:ext cx="12593793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ADED6"/>
                </a:solidFill>
                <a:latin typeface="Arial Bold"/>
                <a:ea typeface="Arial Bold"/>
                <a:cs typeface="Arial Bold"/>
                <a:sym typeface="Arial Bold"/>
              </a:rPr>
              <a:t>Two-Way ANOVA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used when there are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 two independent variables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(factors)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affecting a dependent variable.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7108" y="5735622"/>
            <a:ext cx="10673610" cy="131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2"/>
              </a:lnSpc>
            </a:pPr>
            <a:r>
              <a:rPr lang="en-US" sz="693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18999" y="7050100"/>
            <a:ext cx="9920392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Studying how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teaching method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affect student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01534" y="2963399"/>
            <a:ext cx="682876" cy="494233"/>
          </a:xfrm>
          <a:custGeom>
            <a:avLst/>
            <a:gdLst/>
            <a:ahLst/>
            <a:cxnLst/>
            <a:rect r="r" b="b" t="t" l="l"/>
            <a:pathLst>
              <a:path h="494233" w="682876">
                <a:moveTo>
                  <a:pt x="0" y="0"/>
                </a:moveTo>
                <a:lnTo>
                  <a:pt x="682876" y="0"/>
                </a:lnTo>
                <a:lnTo>
                  <a:pt x="682876" y="494233"/>
                </a:lnTo>
                <a:lnTo>
                  <a:pt x="0" y="494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53" r="0" b="-85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1534" y="5143500"/>
            <a:ext cx="682876" cy="494233"/>
          </a:xfrm>
          <a:custGeom>
            <a:avLst/>
            <a:gdLst/>
            <a:ahLst/>
            <a:cxnLst/>
            <a:rect r="r" b="b" t="t" l="l"/>
            <a:pathLst>
              <a:path h="494233" w="682876">
                <a:moveTo>
                  <a:pt x="0" y="0"/>
                </a:moveTo>
                <a:lnTo>
                  <a:pt x="682876" y="0"/>
                </a:lnTo>
                <a:lnTo>
                  <a:pt x="682876" y="494233"/>
                </a:lnTo>
                <a:lnTo>
                  <a:pt x="0" y="494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53" r="0" b="-853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261588" y="4826318"/>
            <a:ext cx="71438" cy="2097405"/>
            <a:chOff x="0" y="0"/>
            <a:chExt cx="95250" cy="2796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31369"/>
              <a:ext cx="95250" cy="2733802"/>
            </a:xfrm>
            <a:custGeom>
              <a:avLst/>
              <a:gdLst/>
              <a:ahLst/>
              <a:cxnLst/>
              <a:rect r="r" b="b" t="t" l="l"/>
              <a:pathLst>
                <a:path h="2733802" w="95250">
                  <a:moveTo>
                    <a:pt x="0" y="2733040"/>
                  </a:moveTo>
                  <a:lnTo>
                    <a:pt x="31750" y="0"/>
                  </a:lnTo>
                  <a:lnTo>
                    <a:pt x="95250" y="762"/>
                  </a:lnTo>
                  <a:lnTo>
                    <a:pt x="63500" y="2733802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075718" y="4616634"/>
            <a:ext cx="466992" cy="466992"/>
          </a:xfrm>
          <a:custGeom>
            <a:avLst/>
            <a:gdLst/>
            <a:ahLst/>
            <a:cxnLst/>
            <a:rect r="r" b="b" t="t" l="l"/>
            <a:pathLst>
              <a:path h="466992" w="466992">
                <a:moveTo>
                  <a:pt x="0" y="0"/>
                </a:moveTo>
                <a:lnTo>
                  <a:pt x="466991" y="0"/>
                </a:lnTo>
                <a:lnTo>
                  <a:pt x="466991" y="466992"/>
                </a:lnTo>
                <a:lnTo>
                  <a:pt x="0" y="466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592428"/>
            <a:ext cx="10673610" cy="12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CONCEPTS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5202" y="2772899"/>
            <a:ext cx="45413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Main Effects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6139" y="1592428"/>
            <a:ext cx="10673610" cy="12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398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HYPOTHESES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36136" y="3512039"/>
            <a:ext cx="6122108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Effect of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each independent variable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separately.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5202" y="4953000"/>
            <a:ext cx="45413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Interaction Effects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36136" y="5711190"/>
            <a:ext cx="6122108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Whether the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two variables combined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have a unique effect.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75009" y="2868149"/>
            <a:ext cx="6406639" cy="1303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4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For Two-Way ANOVA, there are three sets of hypotheses: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2310" y="4366260"/>
            <a:ext cx="45413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For Factor 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02310" y="5391150"/>
            <a:ext cx="45413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For Factor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02310" y="6416040"/>
            <a:ext cx="526984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For Interaction (A x 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051905" y="5657059"/>
            <a:ext cx="466992" cy="466992"/>
          </a:xfrm>
          <a:custGeom>
            <a:avLst/>
            <a:gdLst/>
            <a:ahLst/>
            <a:cxnLst/>
            <a:rect r="r" b="b" t="t" l="l"/>
            <a:pathLst>
              <a:path h="466992" w="466992">
                <a:moveTo>
                  <a:pt x="0" y="0"/>
                </a:moveTo>
                <a:lnTo>
                  <a:pt x="466992" y="0"/>
                </a:lnTo>
                <a:lnTo>
                  <a:pt x="466992" y="466992"/>
                </a:lnTo>
                <a:lnTo>
                  <a:pt x="0" y="466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051905" y="6666414"/>
            <a:ext cx="466992" cy="466992"/>
          </a:xfrm>
          <a:custGeom>
            <a:avLst/>
            <a:gdLst/>
            <a:ahLst/>
            <a:cxnLst/>
            <a:rect r="r" b="b" t="t" l="l"/>
            <a:pathLst>
              <a:path h="466992" w="466992">
                <a:moveTo>
                  <a:pt x="0" y="0"/>
                </a:moveTo>
                <a:lnTo>
                  <a:pt x="466992" y="0"/>
                </a:lnTo>
                <a:lnTo>
                  <a:pt x="466992" y="466992"/>
                </a:lnTo>
                <a:lnTo>
                  <a:pt x="0" y="466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0472" y="1588780"/>
            <a:ext cx="12593793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PROCEDURE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39232" y="2525401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Identify the two factors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70986" y="3494313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State hypotheses for each factor and interaction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56100" y="5249990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Factor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0986" y="4463224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Compute F-values for: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910414" y="2906239"/>
            <a:ext cx="47625" cy="6304740"/>
            <a:chOff x="0" y="0"/>
            <a:chExt cx="63500" cy="8406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31750"/>
              <a:ext cx="63500" cy="8342884"/>
            </a:xfrm>
            <a:custGeom>
              <a:avLst/>
              <a:gdLst/>
              <a:ahLst/>
              <a:cxnLst/>
              <a:rect r="r" b="b" t="t" l="l"/>
              <a:pathLst>
                <a:path h="8342884" w="63500">
                  <a:moveTo>
                    <a:pt x="0" y="8342884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8342884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632131" y="2707186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632131" y="4682119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89"/>
                </a:lnTo>
                <a:lnTo>
                  <a:pt x="0" y="604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32131" y="3676088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39232" y="7735557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Compare p-value with 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39232" y="8703297"/>
            <a:ext cx="129170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Interpret results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632131" y="7917332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32131" y="8876348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89"/>
                </a:lnTo>
                <a:lnTo>
                  <a:pt x="0" y="604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429211" y="2630653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29211" y="3601202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29211" y="4605585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29211" y="7840809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29211" y="8799824"/>
            <a:ext cx="1010021" cy="60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sz="3007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66568" y="6036754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Factor B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66568" y="6767817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Interaction (A x B)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3840" y="3458013"/>
            <a:ext cx="535791" cy="387782"/>
          </a:xfrm>
          <a:custGeom>
            <a:avLst/>
            <a:gdLst/>
            <a:ahLst/>
            <a:cxnLst/>
            <a:rect r="r" b="b" t="t" l="l"/>
            <a:pathLst>
              <a:path h="387782" w="535791">
                <a:moveTo>
                  <a:pt x="0" y="0"/>
                </a:moveTo>
                <a:lnTo>
                  <a:pt x="535791" y="0"/>
                </a:lnTo>
                <a:lnTo>
                  <a:pt x="535791" y="387782"/>
                </a:lnTo>
                <a:lnTo>
                  <a:pt x="0" y="387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9" t="0" r="-309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040563" y="4771622"/>
          <a:ext cx="8178800" cy="2743200"/>
        </p:xfrm>
        <a:graphic>
          <a:graphicData uri="http://schemas.openxmlformats.org/drawingml/2006/table">
            <a:tbl>
              <a:tblPr/>
              <a:tblGrid>
                <a:gridCol w="3319536"/>
                <a:gridCol w="2433679"/>
                <a:gridCol w="2425584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70673" marR="170673" marT="170673" marB="170673" anchor="ctr">
                    <a:lnL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413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712" y="1928184"/>
            <a:ext cx="12593793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5"/>
              </a:lnSpc>
            </a:pPr>
            <a:r>
              <a:rPr lang="en-US" sz="61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5705" y="2475519"/>
            <a:ext cx="115547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56207" y="3176559"/>
            <a:ext cx="1411224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There is no significant effect of teaching method and study time, and no interaction between them, on students’ test scores.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44523" y="4945409"/>
            <a:ext cx="3561655" cy="49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546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Teaching Methods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5544" y="4741078"/>
            <a:ext cx="3561655" cy="90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546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Short Study</a:t>
            </a:r>
          </a:p>
          <a:p>
            <a:pPr algn="ctr">
              <a:lnSpc>
                <a:spcPts val="2978"/>
              </a:lnSpc>
            </a:pPr>
            <a:r>
              <a:rPr lang="en-US" sz="2546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44523" y="5775817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Traditional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44523" y="6721840"/>
            <a:ext cx="3561655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06177" y="6685674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06177" y="5758701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0644" y="8175041"/>
            <a:ext cx="5069615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Teaching Method</a:t>
            </a: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099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p = 0.04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67537" y="4741078"/>
            <a:ext cx="3561655" cy="90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546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Short Study</a:t>
            </a:r>
          </a:p>
          <a:p>
            <a:pPr algn="ctr">
              <a:lnSpc>
                <a:spcPts val="2978"/>
              </a:lnSpc>
            </a:pPr>
            <a:r>
              <a:rPr lang="en-US" sz="2546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08440" y="5758701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08440" y="6666481"/>
            <a:ext cx="226037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30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33836" y="8753523"/>
            <a:ext cx="5069615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Study Time</a:t>
            </a: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099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p = 0.001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33836" y="9332004"/>
            <a:ext cx="7180669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Interaction</a:t>
            </a: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(Method × Time): </a:t>
            </a:r>
            <a:r>
              <a:rPr lang="en-US" sz="3099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p = 0.03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40644" y="7596549"/>
            <a:ext cx="5069615" cy="61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</a:t>
            </a: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(α): </a:t>
            </a:r>
            <a:r>
              <a:rPr lang="en-US" sz="3099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0.05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1823" y="2350122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97111" y="3338817"/>
            <a:ext cx="12848101" cy="420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Since the p-values for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teaching method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(0.04)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study time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(0.001)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, and their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interaction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(0.03)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are all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less than 0.05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, we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reject the null hypothesis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(H₀). This means that teaching method, study time, and their combined interaction all </a:t>
            </a:r>
            <a:r>
              <a:rPr lang="en-US" sz="39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have a significant effect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on students’ test scores.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77778" y="3706349"/>
            <a:ext cx="8099831" cy="57150"/>
            <a:chOff x="0" y="0"/>
            <a:chExt cx="10799775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8100" y="0"/>
              <a:ext cx="10723626" cy="76200"/>
            </a:xfrm>
            <a:custGeom>
              <a:avLst/>
              <a:gdLst/>
              <a:ahLst/>
              <a:cxnLst/>
              <a:rect r="r" b="b" t="t" l="l"/>
              <a:pathLst>
                <a:path h="76200" w="10723626">
                  <a:moveTo>
                    <a:pt x="0" y="0"/>
                  </a:moveTo>
                  <a:lnTo>
                    <a:pt x="10723626" y="0"/>
                  </a:lnTo>
                  <a:lnTo>
                    <a:pt x="1072362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331693" y="5964545"/>
            <a:ext cx="668560" cy="483870"/>
          </a:xfrm>
          <a:custGeom>
            <a:avLst/>
            <a:gdLst/>
            <a:ahLst/>
            <a:cxnLst/>
            <a:rect r="r" b="b" t="t" l="l"/>
            <a:pathLst>
              <a:path h="483870" w="668560">
                <a:moveTo>
                  <a:pt x="0" y="0"/>
                </a:moveTo>
                <a:lnTo>
                  <a:pt x="668559" y="0"/>
                </a:lnTo>
                <a:lnTo>
                  <a:pt x="668559" y="483870"/>
                </a:lnTo>
                <a:lnTo>
                  <a:pt x="0" y="483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78" t="0" r="-37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31693" y="6791315"/>
            <a:ext cx="668560" cy="483870"/>
          </a:xfrm>
          <a:custGeom>
            <a:avLst/>
            <a:gdLst/>
            <a:ahLst/>
            <a:cxnLst/>
            <a:rect r="r" b="b" t="t" l="l"/>
            <a:pathLst>
              <a:path h="483870" w="668560">
                <a:moveTo>
                  <a:pt x="0" y="0"/>
                </a:moveTo>
                <a:lnTo>
                  <a:pt x="668559" y="0"/>
                </a:lnTo>
                <a:lnTo>
                  <a:pt x="668559" y="483870"/>
                </a:lnTo>
                <a:lnTo>
                  <a:pt x="0" y="483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78" t="0" r="-378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4638818" y="8107699"/>
            <a:ext cx="836733" cy="649615"/>
          </a:xfrm>
          <a:custGeom>
            <a:avLst/>
            <a:gdLst/>
            <a:ahLst/>
            <a:cxnLst/>
            <a:rect r="r" b="b" t="t" l="l"/>
            <a:pathLst>
              <a:path h="649615" w="836733">
                <a:moveTo>
                  <a:pt x="836733" y="0"/>
                </a:moveTo>
                <a:lnTo>
                  <a:pt x="0" y="0"/>
                </a:lnTo>
                <a:lnTo>
                  <a:pt x="0" y="649615"/>
                </a:lnTo>
                <a:lnTo>
                  <a:pt x="836733" y="649615"/>
                </a:lnTo>
                <a:lnTo>
                  <a:pt x="8367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97" r="0" b="-49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06353" y="1469879"/>
            <a:ext cx="12153995" cy="208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 OF ANOVA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20308" y="4953000"/>
            <a:ext cx="992039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F-value measures the ratio of: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6353" y="3896363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UNDERSTANDING THE F-VALUE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39956" y="5774045"/>
            <a:ext cx="992039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Variation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between groups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39956" y="6598910"/>
            <a:ext cx="992039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Variation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within groups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07968" y="7917199"/>
            <a:ext cx="9920392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Higher F-value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= more likely there is a significant difference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77778" y="3706349"/>
            <a:ext cx="8099831" cy="57150"/>
            <a:chOff x="0" y="0"/>
            <a:chExt cx="10799775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8100" y="0"/>
              <a:ext cx="10723626" cy="76200"/>
            </a:xfrm>
            <a:custGeom>
              <a:avLst/>
              <a:gdLst/>
              <a:ahLst/>
              <a:cxnLst/>
              <a:rect r="r" b="b" t="t" l="l"/>
              <a:pathLst>
                <a:path h="76200" w="10723626">
                  <a:moveTo>
                    <a:pt x="0" y="0"/>
                  </a:moveTo>
                  <a:lnTo>
                    <a:pt x="10723626" y="0"/>
                  </a:lnTo>
                  <a:lnTo>
                    <a:pt x="1072362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623466" y="6073140"/>
          <a:ext cx="8420100" cy="3086100"/>
        </p:xfrm>
        <a:graphic>
          <a:graphicData uri="http://schemas.openxmlformats.org/drawingml/2006/table">
            <a:tbl>
              <a:tblPr/>
              <a:tblGrid>
                <a:gridCol w="3522787"/>
                <a:gridCol w="4897313"/>
              </a:tblGrid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906353" y="1469879"/>
            <a:ext cx="12153995" cy="208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 OF ANOVA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20308" y="4953000"/>
            <a:ext cx="1332151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p-value tells us if the result is statistically significant.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6353" y="3896363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UNDERSTANDING THE P-VALUE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56100" y="6092190"/>
            <a:ext cx="282467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p-value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43224" y="6092190"/>
            <a:ext cx="36614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Decision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19943" y="7137082"/>
            <a:ext cx="286083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≤ 0.05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19943" y="8181022"/>
            <a:ext cx="286083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&gt; 0.05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43224" y="7137082"/>
            <a:ext cx="36614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Significant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3224" y="8181022"/>
            <a:ext cx="366141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Not Significant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77778" y="3706349"/>
            <a:ext cx="8099831" cy="57150"/>
            <a:chOff x="0" y="0"/>
            <a:chExt cx="10799775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8100" y="0"/>
              <a:ext cx="10723626" cy="76200"/>
            </a:xfrm>
            <a:custGeom>
              <a:avLst/>
              <a:gdLst/>
              <a:ahLst/>
              <a:cxnLst/>
              <a:rect r="r" b="b" t="t" l="l"/>
              <a:pathLst>
                <a:path h="76200" w="10723626">
                  <a:moveTo>
                    <a:pt x="0" y="0"/>
                  </a:moveTo>
                  <a:lnTo>
                    <a:pt x="10723626" y="0"/>
                  </a:lnTo>
                  <a:lnTo>
                    <a:pt x="1072362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761500" y="7405630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8"/>
                </a:lnTo>
                <a:lnTo>
                  <a:pt x="0" y="56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06353" y="1469879"/>
            <a:ext cx="12153995" cy="208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 OF ANOVA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20308" y="4953000"/>
            <a:ext cx="13321513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If ANOVA shows a significant result, we perform post-hoc tests to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find which groups differ.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6353" y="3896363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POST-HOC TESTS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28910" y="6446834"/>
            <a:ext cx="8108871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Common Post-hoc Tests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3421" y="7205024"/>
            <a:ext cx="46598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Tukey’s HSD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3421" y="7963214"/>
            <a:ext cx="46598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Bonferroni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53421" y="8721404"/>
            <a:ext cx="46598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Scheffé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61500" y="8124558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8"/>
                </a:lnTo>
                <a:lnTo>
                  <a:pt x="0" y="56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61500" y="8843496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7"/>
                </a:lnTo>
                <a:lnTo>
                  <a:pt x="0" y="566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7670" y="2753849"/>
            <a:ext cx="8099831" cy="57150"/>
            <a:chOff x="0" y="0"/>
            <a:chExt cx="10799775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0723626" cy="76200"/>
            </a:xfrm>
            <a:custGeom>
              <a:avLst/>
              <a:gdLst/>
              <a:ahLst/>
              <a:cxnLst/>
              <a:rect r="r" b="b" t="t" l="l"/>
              <a:pathLst>
                <a:path h="76200" w="10723626">
                  <a:moveTo>
                    <a:pt x="0" y="0"/>
                  </a:moveTo>
                  <a:lnTo>
                    <a:pt x="10723626" y="0"/>
                  </a:lnTo>
                  <a:lnTo>
                    <a:pt x="1072362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164700" y="4095750"/>
            <a:ext cx="13856122" cy="3970010"/>
            <a:chOff x="0" y="0"/>
            <a:chExt cx="18474830" cy="5293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74817" cy="5293360"/>
            </a:xfrm>
            <a:custGeom>
              <a:avLst/>
              <a:gdLst/>
              <a:ahLst/>
              <a:cxnLst/>
              <a:rect r="r" b="b" t="t" l="l"/>
              <a:pathLst>
                <a:path h="5293360" w="18474817">
                  <a:moveTo>
                    <a:pt x="0" y="0"/>
                  </a:moveTo>
                  <a:lnTo>
                    <a:pt x="18474817" y="0"/>
                  </a:lnTo>
                  <a:lnTo>
                    <a:pt x="18474817" y="5293360"/>
                  </a:lnTo>
                  <a:lnTo>
                    <a:pt x="0" y="529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245" y="1498454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POST-HOC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6245" y="2811780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TUKEY’S HSD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91960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3525" y="2939929"/>
            <a:ext cx="14618122" cy="464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68"/>
              </a:lnSpc>
            </a:pPr>
            <a:r>
              <a:rPr lang="en-US" sz="34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post hoc test (Tukey)</a:t>
            </a:r>
            <a:r>
              <a:rPr lang="en-US" sz="34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shows that there is </a:t>
            </a:r>
            <a:r>
              <a:rPr lang="en-US" sz="34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 significant difference</a:t>
            </a:r>
            <a:r>
              <a:rPr lang="en-US" sz="34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the </a:t>
            </a:r>
            <a:r>
              <a:rPr lang="en-US" sz="340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Traditional and Online teaching</a:t>
            </a:r>
            <a:r>
              <a:rPr lang="en-US" sz="34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methods (p = 0.092 &gt; 0.05), meaning they have similar effects on student performance. However, the </a:t>
            </a:r>
            <a:r>
              <a:rPr lang="en-US" sz="340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Blended method </a:t>
            </a:r>
            <a:r>
              <a:rPr lang="en-US" sz="34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is s</a:t>
            </a:r>
            <a:r>
              <a:rPr lang="en-US" sz="34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ignificantly different</a:t>
            </a:r>
            <a:r>
              <a:rPr lang="en-US" sz="34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from both Traditional (p = 0.012 &lt; 0.05) and Online (p = 0.024 &lt; 0.05), with higher mean scores in both comparisons. This indicates that the Blended teaching method leads to significantly better student performance compared to the other two methods.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7670" y="2753849"/>
            <a:ext cx="8099831" cy="57150"/>
            <a:chOff x="0" y="0"/>
            <a:chExt cx="10799775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0723626" cy="76200"/>
            </a:xfrm>
            <a:custGeom>
              <a:avLst/>
              <a:gdLst/>
              <a:ahLst/>
              <a:cxnLst/>
              <a:rect r="r" b="b" t="t" l="l"/>
              <a:pathLst>
                <a:path h="76200" w="10723626">
                  <a:moveTo>
                    <a:pt x="0" y="0"/>
                  </a:moveTo>
                  <a:lnTo>
                    <a:pt x="10723626" y="0"/>
                  </a:lnTo>
                  <a:lnTo>
                    <a:pt x="1072362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32551" y="4067175"/>
            <a:ext cx="13649096" cy="3809047"/>
            <a:chOff x="0" y="0"/>
            <a:chExt cx="18198795" cy="50787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98846" cy="5078730"/>
            </a:xfrm>
            <a:custGeom>
              <a:avLst/>
              <a:gdLst/>
              <a:ahLst/>
              <a:cxnLst/>
              <a:rect r="r" b="b" t="t" l="l"/>
              <a:pathLst>
                <a:path h="5078730" w="18198846">
                  <a:moveTo>
                    <a:pt x="0" y="0"/>
                  </a:moveTo>
                  <a:lnTo>
                    <a:pt x="18198846" y="0"/>
                  </a:lnTo>
                  <a:lnTo>
                    <a:pt x="18198846" y="5078730"/>
                  </a:lnTo>
                  <a:lnTo>
                    <a:pt x="0" y="5078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245" y="1498454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POST-HOC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6245" y="2811780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BONFERRONI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91960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6353" y="2936824"/>
            <a:ext cx="14299397" cy="405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Bonferroni post hoc test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shows that there is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 significant difference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the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Traditional and Online methods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(p = 0.154). However, the </a:t>
            </a:r>
            <a:r>
              <a:rPr lang="en-US" sz="345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Blended method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significantly different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from both Traditional (p = 0.020) and Online (p = 0.039), with higher mean scores. This indicates that the Blended teaching method produces better student performance compared to the other two methods.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7670" y="2753849"/>
            <a:ext cx="8099831" cy="57150"/>
            <a:chOff x="0" y="0"/>
            <a:chExt cx="10799775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0723626" cy="76200"/>
            </a:xfrm>
            <a:custGeom>
              <a:avLst/>
              <a:gdLst/>
              <a:ahLst/>
              <a:cxnLst/>
              <a:rect r="r" b="b" t="t" l="l"/>
              <a:pathLst>
                <a:path h="76200" w="10723626">
                  <a:moveTo>
                    <a:pt x="0" y="0"/>
                  </a:moveTo>
                  <a:lnTo>
                    <a:pt x="10723626" y="0"/>
                  </a:lnTo>
                  <a:lnTo>
                    <a:pt x="1072362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880027" y="4095750"/>
            <a:ext cx="13034896" cy="3713855"/>
            <a:chOff x="0" y="0"/>
            <a:chExt cx="17379861" cy="4951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9823" cy="4951857"/>
            </a:xfrm>
            <a:custGeom>
              <a:avLst/>
              <a:gdLst/>
              <a:ahLst/>
              <a:cxnLst/>
              <a:rect r="r" b="b" t="t" l="l"/>
              <a:pathLst>
                <a:path h="4951857" w="17379823">
                  <a:moveTo>
                    <a:pt x="0" y="0"/>
                  </a:moveTo>
                  <a:lnTo>
                    <a:pt x="17379823" y="0"/>
                  </a:lnTo>
                  <a:lnTo>
                    <a:pt x="17379823" y="4951857"/>
                  </a:lnTo>
                  <a:lnTo>
                    <a:pt x="0" y="4951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245" y="1498454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POST-HOC TEST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6245" y="2811780"/>
            <a:ext cx="12153995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SCHEFFÉ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91960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6353" y="2936824"/>
            <a:ext cx="13622007" cy="470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Scheffé post hoc test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shows that there is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 significant difference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the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Traditional and Online methods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(p = 0.100). However, the B</a:t>
            </a:r>
            <a:r>
              <a:rPr lang="en-US" sz="345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lended method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significantly different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from both Traditional (p = 0.013) and Online (p = 0.026), with higher mean scores. This indicates that the Blended teaching method leads to significantly better student performance compared to the other two methods.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4438" y="1785699"/>
            <a:ext cx="12593793" cy="98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3"/>
              </a:lnSpc>
            </a:pPr>
            <a:r>
              <a:rPr lang="en-US" sz="69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17497" y="2778909"/>
            <a:ext cx="11533699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One-Way ANOVA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compares 3 or more groups using one factor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24089" y="5971689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F-value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measures variation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17497" y="4375299"/>
            <a:ext cx="11533699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Two-Way ANOVA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compares groups using two factors and interaction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17497" y="6884670"/>
            <a:ext cx="10814714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p-value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determines significance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24089" y="7795260"/>
            <a:ext cx="10814714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Post-hoc tests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identify specific group differences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08583" y="3295098"/>
            <a:ext cx="47625" cy="5025781"/>
            <a:chOff x="0" y="0"/>
            <a:chExt cx="63500" cy="67010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31750"/>
              <a:ext cx="63500" cy="6637528"/>
            </a:xfrm>
            <a:custGeom>
              <a:avLst/>
              <a:gdLst/>
              <a:ahLst/>
              <a:cxnLst/>
              <a:rect r="r" b="b" t="t" l="l"/>
              <a:pathLst>
                <a:path h="6637528" w="63500">
                  <a:moveTo>
                    <a:pt x="0" y="6637528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6637528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930310" y="2969409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30310" y="6144739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930310" y="4539310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30310" y="7159095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930310" y="7985760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1137" y="2689641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6" y="0"/>
                </a:lnTo>
                <a:lnTo>
                  <a:pt x="3426486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19623" y="-2218087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6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6" y="0"/>
                </a:lnTo>
                <a:lnTo>
                  <a:pt x="3426486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410546"/>
            <a:ext cx="6960508" cy="1350683"/>
          </a:xfrm>
          <a:custGeom>
            <a:avLst/>
            <a:gdLst/>
            <a:ahLst/>
            <a:cxnLst/>
            <a:rect r="r" b="b" t="t" l="l"/>
            <a:pathLst>
              <a:path h="1350683" w="6960508">
                <a:moveTo>
                  <a:pt x="0" y="0"/>
                </a:moveTo>
                <a:lnTo>
                  <a:pt x="6960508" y="0"/>
                </a:lnTo>
                <a:lnTo>
                  <a:pt x="6960508" y="1350684"/>
                </a:lnTo>
                <a:lnTo>
                  <a:pt x="0" y="135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05" r="0" b="-404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9898028" y="525770"/>
            <a:ext cx="7361272" cy="1428445"/>
          </a:xfrm>
          <a:custGeom>
            <a:avLst/>
            <a:gdLst/>
            <a:ahLst/>
            <a:cxnLst/>
            <a:rect r="r" b="b" t="t" l="l"/>
            <a:pathLst>
              <a:path h="1428445" w="7361272">
                <a:moveTo>
                  <a:pt x="7361272" y="1428446"/>
                </a:moveTo>
                <a:lnTo>
                  <a:pt x="0" y="1428446"/>
                </a:lnTo>
                <a:lnTo>
                  <a:pt x="0" y="0"/>
                </a:lnTo>
                <a:lnTo>
                  <a:pt x="7361272" y="0"/>
                </a:lnTo>
                <a:lnTo>
                  <a:pt x="7361272" y="14284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3" r="0" b="-33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06863" y="2235584"/>
            <a:ext cx="13474275" cy="45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3"/>
              </a:lnSpc>
            </a:pPr>
            <a:r>
              <a:rPr lang="en-US" sz="9642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MEASURES OF ASSOCIATION AND CHI-SQUARE 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8954" y="6971852"/>
            <a:ext cx="9270092" cy="100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5"/>
              </a:lnSpc>
            </a:pPr>
            <a:r>
              <a:rPr lang="en-US" sz="4961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IT 221 - Quantitative Methods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75464" y="6966261"/>
            <a:ext cx="9336767" cy="109538"/>
            <a:chOff x="0" y="0"/>
            <a:chExt cx="12449023" cy="146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196" y="0"/>
              <a:ext cx="12360529" cy="146050"/>
            </a:xfrm>
            <a:custGeom>
              <a:avLst/>
              <a:gdLst/>
              <a:ahLst/>
              <a:cxnLst/>
              <a:rect r="r" b="b" t="t" l="l"/>
              <a:pathLst>
                <a:path h="146050" w="12360529">
                  <a:moveTo>
                    <a:pt x="0" y="57150"/>
                  </a:moveTo>
                  <a:lnTo>
                    <a:pt x="12360148" y="0"/>
                  </a:lnTo>
                  <a:lnTo>
                    <a:pt x="12360529" y="88900"/>
                  </a:lnTo>
                  <a:lnTo>
                    <a:pt x="508" y="14605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1238" y="8797871"/>
            <a:ext cx="7826216" cy="84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Group 4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3084" y="392440"/>
            <a:ext cx="7826216" cy="84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Week 15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818612" y="6858552"/>
            <a:ext cx="1198912" cy="1198912"/>
          </a:xfrm>
          <a:custGeom>
            <a:avLst/>
            <a:gdLst/>
            <a:ahLst/>
            <a:cxnLst/>
            <a:rect r="r" b="b" t="t" l="l"/>
            <a:pathLst>
              <a:path h="1198912" w="1198912">
                <a:moveTo>
                  <a:pt x="0" y="0"/>
                </a:moveTo>
                <a:lnTo>
                  <a:pt x="1198912" y="0"/>
                </a:lnTo>
                <a:lnTo>
                  <a:pt x="1198912" y="1198912"/>
                </a:lnTo>
                <a:lnTo>
                  <a:pt x="0" y="119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6159" y="1656207"/>
            <a:ext cx="14412192" cy="139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8"/>
              </a:lnSpc>
            </a:pPr>
            <a:r>
              <a:rPr lang="en-US" sz="7298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MEASURES OF ASSOCIATION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5367" y="3154013"/>
            <a:ext cx="13502992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Measures of association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are statistical tools used to determine the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direction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of a relationship between two or more variables.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74987" y="6877098"/>
            <a:ext cx="5728668" cy="93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6"/>
              </a:lnSpc>
            </a:pPr>
            <a:r>
              <a:rPr lang="en-US" sz="4683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Pearson’s Correlation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818612" y="8316535"/>
            <a:ext cx="1198912" cy="1198912"/>
          </a:xfrm>
          <a:custGeom>
            <a:avLst/>
            <a:gdLst/>
            <a:ahLst/>
            <a:cxnLst/>
            <a:rect r="r" b="b" t="t" l="l"/>
            <a:pathLst>
              <a:path h="1198912" w="1198912">
                <a:moveTo>
                  <a:pt x="0" y="0"/>
                </a:moveTo>
                <a:lnTo>
                  <a:pt x="1198912" y="0"/>
                </a:lnTo>
                <a:lnTo>
                  <a:pt x="1198912" y="1198911"/>
                </a:lnTo>
                <a:lnTo>
                  <a:pt x="0" y="1198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74987" y="8335089"/>
            <a:ext cx="10006660" cy="93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6"/>
              </a:lnSpc>
            </a:pPr>
            <a:r>
              <a:rPr lang="en-US" sz="4683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Spearman’s Rank-Order Correlation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62652" y="7008714"/>
            <a:ext cx="721681" cy="74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5"/>
              </a:lnSpc>
            </a:pPr>
            <a:r>
              <a:rPr lang="en-US" sz="3897" b="true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51803" y="8462239"/>
            <a:ext cx="732530" cy="75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3956" b="true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25367" y="5481876"/>
            <a:ext cx="14412192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sz="6698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INCLUDES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30746" y="2902829"/>
            <a:ext cx="12681252" cy="13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PEARSON’S CORRELATION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4567" y="4547721"/>
            <a:ext cx="12593793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Pearson’s Correlation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measures the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strength and direction of a linear relationship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two continuous variables.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44407" y="2804484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8"/>
                </a:lnTo>
                <a:lnTo>
                  <a:pt x="0" y="560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44407" y="3641427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7"/>
                </a:lnTo>
                <a:lnTo>
                  <a:pt x="0" y="560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563996" y="4772145"/>
          <a:ext cx="9855200" cy="4673600"/>
        </p:xfrm>
        <a:graphic>
          <a:graphicData uri="http://schemas.openxmlformats.org/drawingml/2006/table">
            <a:tbl>
              <a:tblPr/>
              <a:tblGrid>
                <a:gridCol w="3254332"/>
                <a:gridCol w="6600868"/>
              </a:tblGrid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7108" y="1829124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9641" y="2532393"/>
            <a:ext cx="724609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Symbol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99641" y="3437268"/>
            <a:ext cx="724609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Range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-1 to +1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15810" y="4832995"/>
            <a:ext cx="300174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Value of 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2130" y="4832995"/>
            <a:ext cx="51472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Interpretation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5810" y="5951115"/>
            <a:ext cx="300174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22694" y="6019695"/>
            <a:ext cx="729269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Perfect positive relationship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15810" y="7180459"/>
            <a:ext cx="300174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15810" y="8294884"/>
            <a:ext cx="300174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99396" y="8363464"/>
            <a:ext cx="729269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Perfect negative relationship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22694" y="7199509"/>
            <a:ext cx="729269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 relationship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9515" y="1970589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ASSUMPTIONS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5397" y="2704652"/>
            <a:ext cx="115547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• Linear relationship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06353" y="5088112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45448" y="5917892"/>
            <a:ext cx="10701461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Positive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correlation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as one variable increases, the other increases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45448" y="7507767"/>
            <a:ext cx="10701461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Negative correlation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as one increases, the other decreases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5397" y="3500942"/>
            <a:ext cx="115547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• Continuous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54019" y="2704652"/>
            <a:ext cx="115547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• No extreme outliers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54019" y="3500942"/>
            <a:ext cx="1155474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• Normal distribution (approximate)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322892" y="7631363"/>
            <a:ext cx="789651" cy="571510"/>
          </a:xfrm>
          <a:custGeom>
            <a:avLst/>
            <a:gdLst/>
            <a:ahLst/>
            <a:cxnLst/>
            <a:rect r="r" b="b" t="t" l="l"/>
            <a:pathLst>
              <a:path h="571510" w="789651">
                <a:moveTo>
                  <a:pt x="0" y="0"/>
                </a:moveTo>
                <a:lnTo>
                  <a:pt x="789651" y="0"/>
                </a:lnTo>
                <a:lnTo>
                  <a:pt x="789651" y="571510"/>
                </a:lnTo>
                <a:lnTo>
                  <a:pt x="0" y="571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73" r="0" b="-77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322892" y="6108392"/>
            <a:ext cx="789651" cy="571510"/>
          </a:xfrm>
          <a:custGeom>
            <a:avLst/>
            <a:gdLst/>
            <a:ahLst/>
            <a:cxnLst/>
            <a:rect r="r" b="b" t="t" l="l"/>
            <a:pathLst>
              <a:path h="571510" w="789651">
                <a:moveTo>
                  <a:pt x="0" y="0"/>
                </a:moveTo>
                <a:lnTo>
                  <a:pt x="789651" y="0"/>
                </a:lnTo>
                <a:lnTo>
                  <a:pt x="789651" y="571510"/>
                </a:lnTo>
                <a:lnTo>
                  <a:pt x="0" y="571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73" r="0" b="-773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86592" y="4094274"/>
            <a:ext cx="1909667" cy="5164026"/>
            <a:chOff x="0" y="0"/>
            <a:chExt cx="2546223" cy="6885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6223" cy="6885432"/>
            </a:xfrm>
            <a:custGeom>
              <a:avLst/>
              <a:gdLst/>
              <a:ahLst/>
              <a:cxnLst/>
              <a:rect r="r" b="b" t="t" l="l"/>
              <a:pathLst>
                <a:path h="6885432" w="2546223">
                  <a:moveTo>
                    <a:pt x="0" y="0"/>
                  </a:moveTo>
                  <a:lnTo>
                    <a:pt x="2546223" y="0"/>
                  </a:lnTo>
                  <a:lnTo>
                    <a:pt x="2546223" y="6885432"/>
                  </a:lnTo>
                  <a:lnTo>
                    <a:pt x="0" y="688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7582" t="0" r="-28758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92562" y="1746256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2780" y="2589543"/>
            <a:ext cx="12593793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 :</a:t>
            </a:r>
            <a:r>
              <a:rPr lang="en-US" sz="3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is no significant linear relationship between hours of sleep and exam scores.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00710" y="6101705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Pearson’s r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0.96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00710" y="5231159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 (α):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00710" y="6971024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96249" y="4094274"/>
            <a:ext cx="2249948" cy="5164026"/>
            <a:chOff x="0" y="0"/>
            <a:chExt cx="2999930" cy="6885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9867" cy="6885432"/>
            </a:xfrm>
            <a:custGeom>
              <a:avLst/>
              <a:gdLst/>
              <a:ahLst/>
              <a:cxnLst/>
              <a:rect r="r" b="b" t="t" l="l"/>
              <a:pathLst>
                <a:path h="6885432" w="2999867">
                  <a:moveTo>
                    <a:pt x="0" y="0"/>
                  </a:moveTo>
                  <a:lnTo>
                    <a:pt x="2999867" y="0"/>
                  </a:lnTo>
                  <a:lnTo>
                    <a:pt x="2999867" y="6885432"/>
                  </a:lnTo>
                  <a:lnTo>
                    <a:pt x="0" y="688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3357" t="0" r="-22971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46197" y="4094274"/>
            <a:ext cx="2249948" cy="5164026"/>
            <a:chOff x="0" y="0"/>
            <a:chExt cx="2999930" cy="6885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99867" cy="6885432"/>
            </a:xfrm>
            <a:custGeom>
              <a:avLst/>
              <a:gdLst/>
              <a:ahLst/>
              <a:cxnLst/>
              <a:rect r="r" b="b" t="t" l="l"/>
              <a:pathLst>
                <a:path h="6885432" w="2999867">
                  <a:moveTo>
                    <a:pt x="0" y="0"/>
                  </a:moveTo>
                  <a:lnTo>
                    <a:pt x="2999867" y="0"/>
                  </a:lnTo>
                  <a:lnTo>
                    <a:pt x="2999867" y="6885432"/>
                  </a:lnTo>
                  <a:lnTo>
                    <a:pt x="0" y="688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6531" t="0" r="-236534" b="0"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5432" y="2749429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83085" y="3494284"/>
            <a:ext cx="13622007" cy="405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Pearson correlation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shows a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very strong positive linear relationship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(r = 0.96) between hours of sleep and exam scores. This indicates that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students who sleep more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tend to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achieve higher exam scores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 Since the p-value (0.01) is less than 0.05, the relationship is statistically significant, meaning the association is unlikely due to chance.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6353" y="2449335"/>
            <a:ext cx="13597614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SPEARMAN’S RANK-ORDER CORRELATION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51178" y="4566037"/>
            <a:ext cx="12593793" cy="228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Spearman’s Correlation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measures the strength and direction of a </a:t>
            </a:r>
            <a:r>
              <a:rPr lang="en-US" sz="4299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monotonic relationship using ranked 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44407" y="2804484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8"/>
                </a:lnTo>
                <a:lnTo>
                  <a:pt x="0" y="560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44407" y="3641427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7"/>
                </a:lnTo>
                <a:lnTo>
                  <a:pt x="0" y="560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7108" y="1829124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99641" y="2532393"/>
            <a:ext cx="724609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Symbol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ρ (rho)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9641" y="3437268"/>
            <a:ext cx="724609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Range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-1 to +1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99641" y="5952172"/>
            <a:ext cx="729269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Data has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69975" y="5249228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WHEN TO USE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53054" y="6900396"/>
            <a:ext cx="729269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Relationship is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not linear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99641" y="7848619"/>
            <a:ext cx="933807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Data is in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ranks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(e.g., 1st, 2nd, 3rd)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944407" y="6161722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8"/>
                </a:lnTo>
                <a:lnTo>
                  <a:pt x="0" y="560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944407" y="7109946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7"/>
                </a:lnTo>
                <a:lnTo>
                  <a:pt x="0" y="560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44407" y="8058169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8"/>
                </a:lnTo>
                <a:lnTo>
                  <a:pt x="0" y="560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22100" y="4157501"/>
            <a:ext cx="1324994" cy="4911928"/>
            <a:chOff x="0" y="0"/>
            <a:chExt cx="1766659" cy="65492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6697" cy="6549263"/>
            </a:xfrm>
            <a:custGeom>
              <a:avLst/>
              <a:gdLst/>
              <a:ahLst/>
              <a:cxnLst/>
              <a:rect r="r" b="b" t="t" l="l"/>
              <a:pathLst>
                <a:path h="6549263" w="1766697">
                  <a:moveTo>
                    <a:pt x="0" y="0"/>
                  </a:moveTo>
                  <a:lnTo>
                    <a:pt x="1766697" y="0"/>
                  </a:lnTo>
                  <a:lnTo>
                    <a:pt x="1766697" y="6549263"/>
                  </a:lnTo>
                  <a:lnTo>
                    <a:pt x="0" y="6549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6832" t="0" r="-38682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92562" y="1746256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2780" y="2589543"/>
            <a:ext cx="12593793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 :</a:t>
            </a:r>
            <a:r>
              <a:rPr lang="en-US" sz="3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is no significant relationship between students’ study time and their exam scores.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47094" y="4157501"/>
            <a:ext cx="2334863" cy="4911928"/>
            <a:chOff x="0" y="0"/>
            <a:chExt cx="3113151" cy="65492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13151" cy="6549263"/>
            </a:xfrm>
            <a:custGeom>
              <a:avLst/>
              <a:gdLst/>
              <a:ahLst/>
              <a:cxnLst/>
              <a:rect r="r" b="b" t="t" l="l"/>
              <a:pathLst>
                <a:path h="6549263" w="3113151">
                  <a:moveTo>
                    <a:pt x="0" y="0"/>
                  </a:moveTo>
                  <a:lnTo>
                    <a:pt x="3113151" y="0"/>
                  </a:lnTo>
                  <a:lnTo>
                    <a:pt x="3113151" y="6549263"/>
                  </a:lnTo>
                  <a:lnTo>
                    <a:pt x="0" y="6549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7899" t="0" r="-19789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81948" y="4157501"/>
            <a:ext cx="1385087" cy="4911928"/>
            <a:chOff x="0" y="0"/>
            <a:chExt cx="1846783" cy="65492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6834" cy="6549263"/>
            </a:xfrm>
            <a:custGeom>
              <a:avLst/>
              <a:gdLst/>
              <a:ahLst/>
              <a:cxnLst/>
              <a:rect r="r" b="b" t="t" l="l"/>
              <a:pathLst>
                <a:path h="6549263" w="1846834">
                  <a:moveTo>
                    <a:pt x="0" y="0"/>
                  </a:moveTo>
                  <a:lnTo>
                    <a:pt x="1846834" y="0"/>
                  </a:lnTo>
                  <a:lnTo>
                    <a:pt x="1846834" y="6549263"/>
                  </a:lnTo>
                  <a:lnTo>
                    <a:pt x="0" y="6549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7877" t="0" r="-36787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967035" y="4157501"/>
            <a:ext cx="1502559" cy="4911928"/>
            <a:chOff x="0" y="0"/>
            <a:chExt cx="2003412" cy="65492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3425" cy="6549263"/>
            </a:xfrm>
            <a:custGeom>
              <a:avLst/>
              <a:gdLst/>
              <a:ahLst/>
              <a:cxnLst/>
              <a:rect r="r" b="b" t="t" l="l"/>
              <a:pathLst>
                <a:path h="6549263" w="2003425">
                  <a:moveTo>
                    <a:pt x="0" y="0"/>
                  </a:moveTo>
                  <a:lnTo>
                    <a:pt x="2003425" y="0"/>
                  </a:lnTo>
                  <a:lnTo>
                    <a:pt x="2003425" y="6549263"/>
                  </a:lnTo>
                  <a:lnTo>
                    <a:pt x="0" y="6549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5214" t="0" r="-33521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69594" y="4157501"/>
            <a:ext cx="1325728" cy="4911928"/>
            <a:chOff x="0" y="0"/>
            <a:chExt cx="1767637" cy="6549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7586" cy="6549263"/>
            </a:xfrm>
            <a:custGeom>
              <a:avLst/>
              <a:gdLst/>
              <a:ahLst/>
              <a:cxnLst/>
              <a:rect r="r" b="b" t="t" l="l"/>
              <a:pathLst>
                <a:path h="6549263" w="1767586">
                  <a:moveTo>
                    <a:pt x="0" y="0"/>
                  </a:moveTo>
                  <a:lnTo>
                    <a:pt x="1767586" y="0"/>
                  </a:lnTo>
                  <a:lnTo>
                    <a:pt x="1767586" y="6549263"/>
                  </a:lnTo>
                  <a:lnTo>
                    <a:pt x="0" y="6549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6609" t="0" r="-386612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39067" y="5660317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Spearman’s rho (ρ)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0.97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39067" y="5010150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 (α):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9067" y="6310551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0.002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5432" y="2749429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83085" y="3494284"/>
            <a:ext cx="13622007" cy="405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Spearman’s rank correlation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indicates a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very strong positive relationship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(ρ = 0.97) between study time and exam scores. This suggests that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students who spend more time studying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generally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achieve higher exam scores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 The result is statistically significant (p &lt; 0.05), showing that this relationship is unlikely to be caused by random variation in the data.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371278" y="3041098"/>
          <a:ext cx="10414000" cy="5867400"/>
        </p:xfrm>
        <a:graphic>
          <a:graphicData uri="http://schemas.openxmlformats.org/drawingml/2006/table">
            <a:tbl>
              <a:tblPr/>
              <a:tblGrid>
                <a:gridCol w="3619266"/>
                <a:gridCol w="3323401"/>
                <a:gridCol w="3471333"/>
              </a:tblGrid>
              <a:tr h="1280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97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07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60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7108" y="1928184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PEARSON VS SPEARMAN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5809" y="3135716"/>
            <a:ext cx="283285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43431" y="4535643"/>
            <a:ext cx="29376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Data Type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26145" y="3191237"/>
            <a:ext cx="283285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Pearson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92414" y="3191237"/>
            <a:ext cx="283285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Spearman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58224" y="5878668"/>
            <a:ext cx="350802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58224" y="7054139"/>
            <a:ext cx="3508029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Sensitivity to Outliers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1399" y="4535643"/>
            <a:ext cx="29376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1399" y="5878668"/>
            <a:ext cx="29376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1399" y="7454189"/>
            <a:ext cx="29376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40036" y="4318473"/>
            <a:ext cx="2937615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Ranked or</a:t>
            </a:r>
          </a:p>
          <a:p>
            <a:pPr algn="ctr">
              <a:lnSpc>
                <a:spcPts val="5580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Ordinal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87658" y="5878668"/>
            <a:ext cx="29376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Monotonic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40036" y="7454189"/>
            <a:ext cx="293761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6545" y="3009633"/>
            <a:ext cx="1359761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7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CHI-SQUARE TEST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34567" y="4250160"/>
            <a:ext cx="12593793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Chi-Square (χ²)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test is used to determine if there is a significant association between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two categorical variables.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96625" y="4099979"/>
            <a:ext cx="1544965" cy="3477130"/>
            <a:chOff x="0" y="0"/>
            <a:chExt cx="2059953" cy="46361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994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059940">
                  <a:moveTo>
                    <a:pt x="0" y="0"/>
                  </a:moveTo>
                  <a:lnTo>
                    <a:pt x="2059940" y="0"/>
                  </a:lnTo>
                  <a:lnTo>
                    <a:pt x="205994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4818" t="0" r="-39481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92562" y="1746256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2780" y="2589543"/>
            <a:ext cx="12593793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 :</a:t>
            </a:r>
            <a:r>
              <a:rPr lang="en-US" sz="3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is no significant association between gender and preferred learning method.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4080" y="8390239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Chi-square result: χ²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1.85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14080" y="7740082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 (α):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1589" y="4099979"/>
            <a:ext cx="1544965" cy="3477130"/>
            <a:chOff x="0" y="0"/>
            <a:chExt cx="2059953" cy="46361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94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059940">
                  <a:moveTo>
                    <a:pt x="0" y="0"/>
                  </a:moveTo>
                  <a:lnTo>
                    <a:pt x="2059940" y="0"/>
                  </a:lnTo>
                  <a:lnTo>
                    <a:pt x="205994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4818" t="0" r="-39481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86554" y="4099979"/>
            <a:ext cx="2077422" cy="3477130"/>
            <a:chOff x="0" y="0"/>
            <a:chExt cx="2769895" cy="4636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6987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769870">
                  <a:moveTo>
                    <a:pt x="0" y="0"/>
                  </a:moveTo>
                  <a:lnTo>
                    <a:pt x="2769870" y="0"/>
                  </a:lnTo>
                  <a:lnTo>
                    <a:pt x="276987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0809" t="0" r="-28080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63966" y="4099979"/>
            <a:ext cx="1798358" cy="3477130"/>
            <a:chOff x="0" y="0"/>
            <a:chExt cx="2397811" cy="46361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9776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397760">
                  <a:moveTo>
                    <a:pt x="0" y="0"/>
                  </a:moveTo>
                  <a:lnTo>
                    <a:pt x="2397760" y="0"/>
                  </a:lnTo>
                  <a:lnTo>
                    <a:pt x="239776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2146" t="0" r="-33214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62324" y="4099979"/>
            <a:ext cx="1329042" cy="3477130"/>
            <a:chOff x="0" y="0"/>
            <a:chExt cx="1772056" cy="46361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2031" cy="4636135"/>
            </a:xfrm>
            <a:custGeom>
              <a:avLst/>
              <a:gdLst/>
              <a:ahLst/>
              <a:cxnLst/>
              <a:rect r="r" b="b" t="t" l="l"/>
              <a:pathLst>
                <a:path h="4636135" w="1772031">
                  <a:moveTo>
                    <a:pt x="0" y="0"/>
                  </a:moveTo>
                  <a:lnTo>
                    <a:pt x="1772031" y="0"/>
                  </a:lnTo>
                  <a:lnTo>
                    <a:pt x="1772031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67088" t="0" r="-46709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814080" y="9040482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0.40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2075" y="2820353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9727" y="3565208"/>
            <a:ext cx="13622007" cy="339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Chi-square test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shows that there is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 significant relationship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gender and preferred learning method (χ² = 1.85, p = 0.40 &gt; 0.05). This means that male and female students do not differ in their choice of learning method, and the differences observed in the table are likely due to chance.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2278" y="3516944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8"/>
                </a:lnTo>
                <a:lnTo>
                  <a:pt x="0" y="560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12278" y="5081435"/>
            <a:ext cx="774735" cy="560718"/>
          </a:xfrm>
          <a:custGeom>
            <a:avLst/>
            <a:gdLst/>
            <a:ahLst/>
            <a:cxnLst/>
            <a:rect r="r" b="b" t="t" l="l"/>
            <a:pathLst>
              <a:path h="560718" w="774735">
                <a:moveTo>
                  <a:pt x="0" y="0"/>
                </a:moveTo>
                <a:lnTo>
                  <a:pt x="774735" y="0"/>
                </a:lnTo>
                <a:lnTo>
                  <a:pt x="774735" y="560718"/>
                </a:lnTo>
                <a:lnTo>
                  <a:pt x="0" y="560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0" r="0" b="-54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93113" y="3061030"/>
            <a:ext cx="47625" cy="1587017"/>
            <a:chOff x="0" y="0"/>
            <a:chExt cx="63500" cy="21160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1750"/>
              <a:ext cx="63500" cy="2052574"/>
            </a:xfrm>
            <a:custGeom>
              <a:avLst/>
              <a:gdLst/>
              <a:ahLst/>
              <a:cxnLst/>
              <a:rect r="r" b="b" t="t" l="l"/>
              <a:pathLst>
                <a:path h="2052574" w="63500">
                  <a:moveTo>
                    <a:pt x="0" y="2052574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2052574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217878" y="4325188"/>
            <a:ext cx="598094" cy="598094"/>
          </a:xfrm>
          <a:custGeom>
            <a:avLst/>
            <a:gdLst/>
            <a:ahLst/>
            <a:cxnLst/>
            <a:rect r="r" b="b" t="t" l="l"/>
            <a:pathLst>
              <a:path h="598094" w="598094">
                <a:moveTo>
                  <a:pt x="0" y="0"/>
                </a:moveTo>
                <a:lnTo>
                  <a:pt x="598094" y="0"/>
                </a:lnTo>
                <a:lnTo>
                  <a:pt x="598094" y="598094"/>
                </a:lnTo>
                <a:lnTo>
                  <a:pt x="0" y="5980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7271" y="1928184"/>
            <a:ext cx="13346497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TYPES OF CHI-SQUARE 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44407" y="2532393"/>
            <a:ext cx="1046412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Chi-Square Test of Independence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06428" y="3300260"/>
            <a:ext cx="97756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Checks if two variables are related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44407" y="4071785"/>
            <a:ext cx="1046412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Chi-Square Goodness of Fit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06428" y="4843310"/>
            <a:ext cx="1185287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Checks if data matches expected distribution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7271" y="6481610"/>
            <a:ext cx="13346497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ASSUMPTIONS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217878" y="2785796"/>
            <a:ext cx="598094" cy="598094"/>
          </a:xfrm>
          <a:custGeom>
            <a:avLst/>
            <a:gdLst/>
            <a:ahLst/>
            <a:cxnLst/>
            <a:rect r="r" b="b" t="t" l="l"/>
            <a:pathLst>
              <a:path h="598094" w="598094">
                <a:moveTo>
                  <a:pt x="0" y="0"/>
                </a:moveTo>
                <a:lnTo>
                  <a:pt x="598094" y="0"/>
                </a:lnTo>
                <a:lnTo>
                  <a:pt x="598094" y="598094"/>
                </a:lnTo>
                <a:lnTo>
                  <a:pt x="0" y="5980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22682" y="2760183"/>
            <a:ext cx="388487" cy="515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2510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2682" y="4299575"/>
            <a:ext cx="388487" cy="515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3"/>
              </a:lnSpc>
            </a:pPr>
            <a:r>
              <a:rPr lang="en-US" sz="2510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11169" y="7240362"/>
            <a:ext cx="523206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• Data is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37332" y="7240362"/>
            <a:ext cx="1185287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• Observations are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87013" y="8191519"/>
            <a:ext cx="1185287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• Expected frequency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≥ 5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(in most cells)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96625" y="4099979"/>
            <a:ext cx="1544965" cy="3477130"/>
            <a:chOff x="0" y="0"/>
            <a:chExt cx="2059953" cy="46361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994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059940">
                  <a:moveTo>
                    <a:pt x="0" y="0"/>
                  </a:moveTo>
                  <a:lnTo>
                    <a:pt x="2059940" y="0"/>
                  </a:lnTo>
                  <a:lnTo>
                    <a:pt x="205994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4818" t="0" r="-39481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92562" y="1746256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 OF CHI-SQUARE TEST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2780" y="2589543"/>
            <a:ext cx="12593793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 :</a:t>
            </a:r>
            <a:r>
              <a:rPr lang="en-US" sz="3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is no significant association between gender and preferred learning method.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4080" y="8390239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Chi-square result: χ²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1.85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14080" y="7740082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 (α):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1589" y="4099979"/>
            <a:ext cx="1544965" cy="3477130"/>
            <a:chOff x="0" y="0"/>
            <a:chExt cx="2059953" cy="46361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94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059940">
                  <a:moveTo>
                    <a:pt x="0" y="0"/>
                  </a:moveTo>
                  <a:lnTo>
                    <a:pt x="2059940" y="0"/>
                  </a:lnTo>
                  <a:lnTo>
                    <a:pt x="205994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4818" t="0" r="-39481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86554" y="4099979"/>
            <a:ext cx="2077422" cy="3477130"/>
            <a:chOff x="0" y="0"/>
            <a:chExt cx="2769895" cy="4636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6987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769870">
                  <a:moveTo>
                    <a:pt x="0" y="0"/>
                  </a:moveTo>
                  <a:lnTo>
                    <a:pt x="2769870" y="0"/>
                  </a:lnTo>
                  <a:lnTo>
                    <a:pt x="276987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0809" t="0" r="-28080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63966" y="4099979"/>
            <a:ext cx="1798358" cy="3477130"/>
            <a:chOff x="0" y="0"/>
            <a:chExt cx="2397811" cy="46361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97760" cy="4636135"/>
            </a:xfrm>
            <a:custGeom>
              <a:avLst/>
              <a:gdLst/>
              <a:ahLst/>
              <a:cxnLst/>
              <a:rect r="r" b="b" t="t" l="l"/>
              <a:pathLst>
                <a:path h="4636135" w="2397760">
                  <a:moveTo>
                    <a:pt x="0" y="0"/>
                  </a:moveTo>
                  <a:lnTo>
                    <a:pt x="2397760" y="0"/>
                  </a:lnTo>
                  <a:lnTo>
                    <a:pt x="2397760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2146" t="0" r="-33214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62324" y="4099979"/>
            <a:ext cx="1329042" cy="3477130"/>
            <a:chOff x="0" y="0"/>
            <a:chExt cx="1772056" cy="46361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2031" cy="4636135"/>
            </a:xfrm>
            <a:custGeom>
              <a:avLst/>
              <a:gdLst/>
              <a:ahLst/>
              <a:cxnLst/>
              <a:rect r="r" b="b" t="t" l="l"/>
              <a:pathLst>
                <a:path h="4636135" w="1772031">
                  <a:moveTo>
                    <a:pt x="0" y="0"/>
                  </a:moveTo>
                  <a:lnTo>
                    <a:pt x="1772031" y="0"/>
                  </a:lnTo>
                  <a:lnTo>
                    <a:pt x="1772031" y="4636135"/>
                  </a:lnTo>
                  <a:lnTo>
                    <a:pt x="0" y="463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67088" t="0" r="-46709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814080" y="9040482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0.40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53535" y="3328054"/>
            <a:ext cx="47625" cy="4510516"/>
            <a:chOff x="0" y="0"/>
            <a:chExt cx="63500" cy="6014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31750"/>
              <a:ext cx="63500" cy="5950458"/>
            </a:xfrm>
            <a:custGeom>
              <a:avLst/>
              <a:gdLst/>
              <a:ahLst/>
              <a:cxnLst/>
              <a:rect r="r" b="b" t="t" l="l"/>
              <a:pathLst>
                <a:path h="5950458" w="63500">
                  <a:moveTo>
                    <a:pt x="0" y="5950458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5950458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775253" y="3002356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75253" y="7420385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89"/>
                </a:lnTo>
                <a:lnTo>
                  <a:pt x="0" y="604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75253" y="4832594"/>
            <a:ext cx="604190" cy="604190"/>
          </a:xfrm>
          <a:custGeom>
            <a:avLst/>
            <a:gdLst/>
            <a:ahLst/>
            <a:cxnLst/>
            <a:rect r="r" b="b" t="t" l="l"/>
            <a:pathLst>
              <a:path h="604190" w="604190">
                <a:moveTo>
                  <a:pt x="0" y="0"/>
                </a:moveTo>
                <a:lnTo>
                  <a:pt x="604190" y="0"/>
                </a:lnTo>
                <a:lnTo>
                  <a:pt x="604190" y="604190"/>
                </a:lnTo>
                <a:lnTo>
                  <a:pt x="0" y="604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10338" y="3855168"/>
            <a:ext cx="573881" cy="415347"/>
          </a:xfrm>
          <a:custGeom>
            <a:avLst/>
            <a:gdLst/>
            <a:ahLst/>
            <a:cxnLst/>
            <a:rect r="r" b="b" t="t" l="l"/>
            <a:pathLst>
              <a:path h="415347" w="573881">
                <a:moveTo>
                  <a:pt x="0" y="0"/>
                </a:moveTo>
                <a:lnTo>
                  <a:pt x="573881" y="0"/>
                </a:lnTo>
                <a:lnTo>
                  <a:pt x="573881" y="415347"/>
                </a:lnTo>
                <a:lnTo>
                  <a:pt x="0" y="4153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69" t="0" r="-16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4438" y="1785699"/>
            <a:ext cx="12593793" cy="101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4"/>
              </a:lnSpc>
            </a:pPr>
            <a:r>
              <a:rPr lang="en-US" sz="71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62440" y="2792806"/>
            <a:ext cx="11533699" cy="86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Pearson's Correlation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6478" y="3584019"/>
            <a:ext cx="11533699" cy="86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Linear relationship (continuous data)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62440" y="4598746"/>
            <a:ext cx="11533699" cy="86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Spearman’s Correlation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76478" y="5394408"/>
            <a:ext cx="11533699" cy="162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Monotonic relationship (ranked/non-normal data)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2891" y="7162248"/>
            <a:ext cx="11533699" cy="86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Chi-Square Test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76478" y="7957899"/>
            <a:ext cx="11533699" cy="86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Relationship between categorical variables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910338" y="5700112"/>
            <a:ext cx="573881" cy="415347"/>
          </a:xfrm>
          <a:custGeom>
            <a:avLst/>
            <a:gdLst/>
            <a:ahLst/>
            <a:cxnLst/>
            <a:rect r="r" b="b" t="t" l="l"/>
            <a:pathLst>
              <a:path h="415347" w="573881">
                <a:moveTo>
                  <a:pt x="0" y="0"/>
                </a:moveTo>
                <a:lnTo>
                  <a:pt x="573881" y="0"/>
                </a:lnTo>
                <a:lnTo>
                  <a:pt x="573881" y="415348"/>
                </a:lnTo>
                <a:lnTo>
                  <a:pt x="0" y="4153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69" t="0" r="-169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910338" y="8224599"/>
            <a:ext cx="573881" cy="415347"/>
          </a:xfrm>
          <a:custGeom>
            <a:avLst/>
            <a:gdLst/>
            <a:ahLst/>
            <a:cxnLst/>
            <a:rect r="r" b="b" t="t" l="l"/>
            <a:pathLst>
              <a:path h="415347" w="573881">
                <a:moveTo>
                  <a:pt x="0" y="0"/>
                </a:moveTo>
                <a:lnTo>
                  <a:pt x="573881" y="0"/>
                </a:lnTo>
                <a:lnTo>
                  <a:pt x="573881" y="415348"/>
                </a:lnTo>
                <a:lnTo>
                  <a:pt x="0" y="4153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69" t="0" r="-169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1137" y="2689641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6" y="0"/>
                </a:lnTo>
                <a:lnTo>
                  <a:pt x="3426486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19623" y="-2218087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6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6" y="0"/>
                </a:lnTo>
                <a:lnTo>
                  <a:pt x="3426486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410546"/>
            <a:ext cx="6960508" cy="1350683"/>
          </a:xfrm>
          <a:custGeom>
            <a:avLst/>
            <a:gdLst/>
            <a:ahLst/>
            <a:cxnLst/>
            <a:rect r="r" b="b" t="t" l="l"/>
            <a:pathLst>
              <a:path h="1350683" w="6960508">
                <a:moveTo>
                  <a:pt x="0" y="0"/>
                </a:moveTo>
                <a:lnTo>
                  <a:pt x="6960508" y="0"/>
                </a:lnTo>
                <a:lnTo>
                  <a:pt x="6960508" y="1350684"/>
                </a:lnTo>
                <a:lnTo>
                  <a:pt x="0" y="135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05" r="0" b="-404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9898028" y="525770"/>
            <a:ext cx="7361272" cy="1428445"/>
          </a:xfrm>
          <a:custGeom>
            <a:avLst/>
            <a:gdLst/>
            <a:ahLst/>
            <a:cxnLst/>
            <a:rect r="r" b="b" t="t" l="l"/>
            <a:pathLst>
              <a:path h="1428445" w="7361272">
                <a:moveTo>
                  <a:pt x="7361272" y="1428446"/>
                </a:moveTo>
                <a:lnTo>
                  <a:pt x="0" y="1428446"/>
                </a:lnTo>
                <a:lnTo>
                  <a:pt x="0" y="0"/>
                </a:lnTo>
                <a:lnTo>
                  <a:pt x="7361272" y="0"/>
                </a:lnTo>
                <a:lnTo>
                  <a:pt x="7361272" y="14284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3" r="0" b="-33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06863" y="2613441"/>
            <a:ext cx="13474275" cy="306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3"/>
              </a:lnSpc>
            </a:pPr>
            <a:r>
              <a:rPr lang="en-US" sz="9642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REGRESSION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8954" y="6417974"/>
            <a:ext cx="9270092" cy="100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5"/>
              </a:lnSpc>
            </a:pPr>
            <a:r>
              <a:rPr lang="en-US" sz="4961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IT 221 - Quantitative Methods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75039" y="6116250"/>
            <a:ext cx="9336767" cy="109538"/>
            <a:chOff x="0" y="0"/>
            <a:chExt cx="12449023" cy="146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196" y="0"/>
              <a:ext cx="12360529" cy="146050"/>
            </a:xfrm>
            <a:custGeom>
              <a:avLst/>
              <a:gdLst/>
              <a:ahLst/>
              <a:cxnLst/>
              <a:rect r="r" b="b" t="t" l="l"/>
              <a:pathLst>
                <a:path h="146050" w="12360529">
                  <a:moveTo>
                    <a:pt x="0" y="57150"/>
                  </a:moveTo>
                  <a:lnTo>
                    <a:pt x="12360148" y="0"/>
                  </a:lnTo>
                  <a:lnTo>
                    <a:pt x="12360529" y="88900"/>
                  </a:lnTo>
                  <a:lnTo>
                    <a:pt x="508" y="14605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1238" y="8797871"/>
            <a:ext cx="7826216" cy="84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Group 4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3084" y="392440"/>
            <a:ext cx="7826216" cy="84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Week 16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60076" y="7115727"/>
            <a:ext cx="1198912" cy="1198912"/>
          </a:xfrm>
          <a:custGeom>
            <a:avLst/>
            <a:gdLst/>
            <a:ahLst/>
            <a:cxnLst/>
            <a:rect r="r" b="b" t="t" l="l"/>
            <a:pathLst>
              <a:path h="1198912" w="1198912">
                <a:moveTo>
                  <a:pt x="0" y="0"/>
                </a:moveTo>
                <a:lnTo>
                  <a:pt x="1198912" y="0"/>
                </a:lnTo>
                <a:lnTo>
                  <a:pt x="1198912" y="1198912"/>
                </a:lnTo>
                <a:lnTo>
                  <a:pt x="0" y="1198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7108" y="1531553"/>
            <a:ext cx="12681252" cy="148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8"/>
              </a:lnSpc>
            </a:pPr>
            <a:r>
              <a:rPr lang="en-US" sz="78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7108" y="3271771"/>
            <a:ext cx="12593793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Linear Regression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a statistical method used to model and analyze the relationship between a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(Y)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and one or more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r>
              <a:rPr lang="en-US" sz="39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 (X)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7108" y="5634923"/>
            <a:ext cx="13726782" cy="116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TYPES OF LINEAR REGRESSION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6452" y="7134273"/>
            <a:ext cx="7344451" cy="93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6"/>
              </a:lnSpc>
            </a:pPr>
            <a:r>
              <a:rPr lang="en-US" sz="4683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Simple Linear Regression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260076" y="8573710"/>
            <a:ext cx="1198912" cy="1198912"/>
          </a:xfrm>
          <a:custGeom>
            <a:avLst/>
            <a:gdLst/>
            <a:ahLst/>
            <a:cxnLst/>
            <a:rect r="r" b="b" t="t" l="l"/>
            <a:pathLst>
              <a:path h="1198912" w="1198912">
                <a:moveTo>
                  <a:pt x="0" y="0"/>
                </a:moveTo>
                <a:lnTo>
                  <a:pt x="1198912" y="0"/>
                </a:lnTo>
                <a:lnTo>
                  <a:pt x="1198912" y="1198911"/>
                </a:lnTo>
                <a:lnTo>
                  <a:pt x="0" y="1198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16452" y="8592264"/>
            <a:ext cx="7344451" cy="933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6"/>
              </a:lnSpc>
            </a:pPr>
            <a:r>
              <a:rPr lang="en-US" sz="4683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Multiple Linear Regression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04116" y="7265889"/>
            <a:ext cx="721681" cy="74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5"/>
              </a:lnSpc>
            </a:pPr>
            <a:r>
              <a:rPr lang="en-US" sz="3897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93268" y="8719414"/>
            <a:ext cx="732530" cy="75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8"/>
              </a:lnSpc>
            </a:pPr>
            <a:r>
              <a:rPr lang="en-US" sz="3956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45188" y="3077175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SIMPLE LINEAR REGRESSION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49019" y="4305529"/>
            <a:ext cx="12593793" cy="238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Simple Linear Regression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a statistical method used to predict the value of </a:t>
            </a:r>
            <a:r>
              <a:rPr lang="en-US" sz="42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one dependent variable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99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(Y)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based on </a:t>
            </a:r>
            <a:r>
              <a:rPr lang="en-US" sz="42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one independent variable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99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41524" y="2856243"/>
            <a:ext cx="804234" cy="582063"/>
          </a:xfrm>
          <a:custGeom>
            <a:avLst/>
            <a:gdLst/>
            <a:ahLst/>
            <a:cxnLst/>
            <a:rect r="r" b="b" t="t" l="l"/>
            <a:pathLst>
              <a:path h="582063" w="804234">
                <a:moveTo>
                  <a:pt x="0" y="0"/>
                </a:moveTo>
                <a:lnTo>
                  <a:pt x="804234" y="0"/>
                </a:lnTo>
                <a:lnTo>
                  <a:pt x="804234" y="582063"/>
                </a:lnTo>
                <a:lnTo>
                  <a:pt x="0" y="582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91" r="0" b="-39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3674" y="1898409"/>
            <a:ext cx="13346497" cy="61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58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Single Linear Regression Key Idea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4965" y="2646693"/>
            <a:ext cx="13804335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Shows a </a:t>
            </a:r>
            <a:r>
              <a:rPr lang="en-US" sz="45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linear relationship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(independent variable) and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(dependent variable).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7271" y="5687435"/>
            <a:ext cx="13346497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9277" y="6409430"/>
            <a:ext cx="10256882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Positive slope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: As X increases, Y increases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4965" y="4246893"/>
            <a:ext cx="1380433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Used for </a:t>
            </a:r>
            <a:r>
              <a:rPr lang="en-US" sz="45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45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forecasting.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441524" y="4457700"/>
            <a:ext cx="804234" cy="582063"/>
          </a:xfrm>
          <a:custGeom>
            <a:avLst/>
            <a:gdLst/>
            <a:ahLst/>
            <a:cxnLst/>
            <a:rect r="r" b="b" t="t" l="l"/>
            <a:pathLst>
              <a:path h="582063" w="804234">
                <a:moveTo>
                  <a:pt x="0" y="0"/>
                </a:moveTo>
                <a:lnTo>
                  <a:pt x="804234" y="0"/>
                </a:lnTo>
                <a:lnTo>
                  <a:pt x="804234" y="582063"/>
                </a:lnTo>
                <a:lnTo>
                  <a:pt x="0" y="582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91" r="0" b="-39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109277" y="8152505"/>
            <a:ext cx="10256882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 b="true">
                <a:solidFill>
                  <a:srgbClr val="FFDE59"/>
                </a:solidFill>
                <a:latin typeface="Arial Bold"/>
                <a:ea typeface="Arial Bold"/>
                <a:cs typeface="Arial Bold"/>
                <a:sym typeface="Arial Bold"/>
              </a:rPr>
              <a:t>Negative slope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: As X increases, Y decreases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051030" y="6618980"/>
            <a:ext cx="804234" cy="582063"/>
          </a:xfrm>
          <a:custGeom>
            <a:avLst/>
            <a:gdLst/>
            <a:ahLst/>
            <a:cxnLst/>
            <a:rect r="r" b="b" t="t" l="l"/>
            <a:pathLst>
              <a:path h="582063" w="804234">
                <a:moveTo>
                  <a:pt x="0" y="0"/>
                </a:moveTo>
                <a:lnTo>
                  <a:pt x="804234" y="0"/>
                </a:lnTo>
                <a:lnTo>
                  <a:pt x="804234" y="582063"/>
                </a:lnTo>
                <a:lnTo>
                  <a:pt x="0" y="582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91" r="0" b="-39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51030" y="8362055"/>
            <a:ext cx="804234" cy="582063"/>
          </a:xfrm>
          <a:custGeom>
            <a:avLst/>
            <a:gdLst/>
            <a:ahLst/>
            <a:cxnLst/>
            <a:rect r="r" b="b" t="t" l="l"/>
            <a:pathLst>
              <a:path h="582063" w="804234">
                <a:moveTo>
                  <a:pt x="0" y="0"/>
                </a:moveTo>
                <a:lnTo>
                  <a:pt x="804234" y="0"/>
                </a:lnTo>
                <a:lnTo>
                  <a:pt x="804234" y="582063"/>
                </a:lnTo>
                <a:lnTo>
                  <a:pt x="0" y="582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91" r="0" b="-391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12020" y="4083148"/>
            <a:ext cx="1463278" cy="4439774"/>
            <a:chOff x="0" y="0"/>
            <a:chExt cx="1951038" cy="5919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974" cy="5919724"/>
            </a:xfrm>
            <a:custGeom>
              <a:avLst/>
              <a:gdLst/>
              <a:ahLst/>
              <a:cxnLst/>
              <a:rect r="r" b="b" t="t" l="l"/>
              <a:pathLst>
                <a:path h="5919724" w="1950974">
                  <a:moveTo>
                    <a:pt x="0" y="0"/>
                  </a:moveTo>
                  <a:lnTo>
                    <a:pt x="1950974" y="0"/>
                  </a:lnTo>
                  <a:lnTo>
                    <a:pt x="1950974" y="5919724"/>
                  </a:lnTo>
                  <a:lnTo>
                    <a:pt x="0" y="591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4660" t="0" r="-33466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92562" y="1746256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2780" y="2589543"/>
            <a:ext cx="12593793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 :</a:t>
            </a:r>
            <a:r>
              <a:rPr lang="en-US" sz="3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Study hours do not significantly predict exam scores.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7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73920" y="6237770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R²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= 0.92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73920" y="5587536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y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40 + 7.5X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73920" y="6888013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0.003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75298" y="4084491"/>
            <a:ext cx="2441057" cy="4438440"/>
            <a:chOff x="0" y="0"/>
            <a:chExt cx="3254743" cy="59179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54756" cy="5917946"/>
            </a:xfrm>
            <a:custGeom>
              <a:avLst/>
              <a:gdLst/>
              <a:ahLst/>
              <a:cxnLst/>
              <a:rect r="r" b="b" t="t" l="l"/>
              <a:pathLst>
                <a:path h="5917946" w="3254756">
                  <a:moveTo>
                    <a:pt x="0" y="0"/>
                  </a:moveTo>
                  <a:lnTo>
                    <a:pt x="3254756" y="0"/>
                  </a:lnTo>
                  <a:lnTo>
                    <a:pt x="3254756" y="5917946"/>
                  </a:lnTo>
                  <a:lnTo>
                    <a:pt x="0" y="5917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0505" t="0" r="-18050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16355" y="4084491"/>
            <a:ext cx="2054352" cy="4439774"/>
            <a:chOff x="0" y="0"/>
            <a:chExt cx="2739136" cy="59196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39136" cy="5919724"/>
            </a:xfrm>
            <a:custGeom>
              <a:avLst/>
              <a:gdLst/>
              <a:ahLst/>
              <a:cxnLst/>
              <a:rect r="r" b="b" t="t" l="l"/>
              <a:pathLst>
                <a:path h="5919724" w="2739136">
                  <a:moveTo>
                    <a:pt x="0" y="0"/>
                  </a:moveTo>
                  <a:lnTo>
                    <a:pt x="2739136" y="0"/>
                  </a:lnTo>
                  <a:lnTo>
                    <a:pt x="2739136" y="5919724"/>
                  </a:lnTo>
                  <a:lnTo>
                    <a:pt x="0" y="5919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3978" t="0" r="-22397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73920" y="4952228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 (α)</a:t>
            </a:r>
            <a:r>
              <a:rPr lang="en-US" sz="2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: 0.05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2075" y="2820353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9727" y="3565208"/>
            <a:ext cx="14233798" cy="405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simple linear regression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results show that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study hours significantly predict exam scores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(p &lt; 0.05). The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positive coefficient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(7.5) indicates that for every additional hour of studying, exam scores increase by about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7.5 points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 The high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R² value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(0.92) suggests that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of the variation in exam scores can be explained by study hours, indicating a </a:t>
            </a:r>
            <a:r>
              <a:rPr lang="en-US" sz="345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strong predictive relationship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between the two variables.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3278" y="1820399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MULTIPLE LINEAR REGRESSION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47108" y="2760993"/>
            <a:ext cx="12593793" cy="162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Multiple Linear Regression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predicts a dependent variable using </a:t>
            </a:r>
            <a:r>
              <a:rPr lang="en-US" sz="4299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two or more independent variables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4102503" y="6147321"/>
            <a:ext cx="716613" cy="556355"/>
          </a:xfrm>
          <a:custGeom>
            <a:avLst/>
            <a:gdLst/>
            <a:ahLst/>
            <a:cxnLst/>
            <a:rect r="r" b="b" t="t" l="l"/>
            <a:pathLst>
              <a:path h="556355" w="716613">
                <a:moveTo>
                  <a:pt x="716614" y="0"/>
                </a:moveTo>
                <a:lnTo>
                  <a:pt x="0" y="0"/>
                </a:lnTo>
                <a:lnTo>
                  <a:pt x="0" y="556355"/>
                </a:lnTo>
                <a:lnTo>
                  <a:pt x="716614" y="556355"/>
                </a:lnTo>
                <a:lnTo>
                  <a:pt x="71661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" t="0" r="-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5441" y="4606147"/>
            <a:ext cx="1473711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Idea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49669" y="5937771"/>
            <a:ext cx="10383183" cy="162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Examines the </a:t>
            </a:r>
            <a:r>
              <a:rPr lang="en-US" sz="42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combined effect</a:t>
            </a: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of multiple variables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4102503" y="7987570"/>
            <a:ext cx="716613" cy="556355"/>
          </a:xfrm>
          <a:custGeom>
            <a:avLst/>
            <a:gdLst/>
            <a:ahLst/>
            <a:cxnLst/>
            <a:rect r="r" b="b" t="t" l="l"/>
            <a:pathLst>
              <a:path h="556355" w="716613">
                <a:moveTo>
                  <a:pt x="716614" y="0"/>
                </a:moveTo>
                <a:lnTo>
                  <a:pt x="0" y="0"/>
                </a:lnTo>
                <a:lnTo>
                  <a:pt x="0" y="556355"/>
                </a:lnTo>
                <a:lnTo>
                  <a:pt x="716614" y="556355"/>
                </a:lnTo>
                <a:lnTo>
                  <a:pt x="71661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" t="0" r="-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049669" y="7778020"/>
            <a:ext cx="10383183" cy="162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Helps identify </a:t>
            </a:r>
            <a:r>
              <a:rPr lang="en-US" sz="42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which variables are most important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2562" y="1746256"/>
            <a:ext cx="1359761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32780" y="2589543"/>
            <a:ext cx="12593793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Null Hypothesis (H₀) :</a:t>
            </a:r>
            <a:r>
              <a:rPr lang="en-US" sz="3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Predictors such as study hours, sleep hours, and class attendance does not significantly affect exam scores.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9944" y="5612768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R²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= 0.989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9944" y="6215377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 0.11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9944" y="5010150"/>
            <a:ext cx="5353269" cy="57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Significance level (α)</a:t>
            </a:r>
            <a:r>
              <a:rPr lang="en-US" sz="29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: 0.05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67833" y="4103808"/>
            <a:ext cx="1054217" cy="4534633"/>
            <a:chOff x="0" y="0"/>
            <a:chExt cx="1405623" cy="6046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5636" cy="6046216"/>
            </a:xfrm>
            <a:custGeom>
              <a:avLst/>
              <a:gdLst/>
              <a:ahLst/>
              <a:cxnLst/>
              <a:rect r="r" b="b" t="t" l="l"/>
              <a:pathLst>
                <a:path h="6046216" w="1405636">
                  <a:moveTo>
                    <a:pt x="0" y="0"/>
                  </a:moveTo>
                  <a:lnTo>
                    <a:pt x="1405636" y="0"/>
                  </a:lnTo>
                  <a:lnTo>
                    <a:pt x="1405636" y="6046216"/>
                  </a:lnTo>
                  <a:lnTo>
                    <a:pt x="0" y="604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86484" t="0" r="-48648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522051" y="4103808"/>
            <a:ext cx="2036674" cy="4534633"/>
            <a:chOff x="0" y="0"/>
            <a:chExt cx="2715565" cy="60461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15514" cy="6046216"/>
            </a:xfrm>
            <a:custGeom>
              <a:avLst/>
              <a:gdLst/>
              <a:ahLst/>
              <a:cxnLst/>
              <a:rect r="r" b="b" t="t" l="l"/>
              <a:pathLst>
                <a:path h="6046216" w="2715514">
                  <a:moveTo>
                    <a:pt x="0" y="0"/>
                  </a:moveTo>
                  <a:lnTo>
                    <a:pt x="2715514" y="0"/>
                  </a:lnTo>
                  <a:lnTo>
                    <a:pt x="2715514" y="6046216"/>
                  </a:lnTo>
                  <a:lnTo>
                    <a:pt x="0" y="604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7700" t="0" r="-22770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58725" y="4103808"/>
            <a:ext cx="1943729" cy="4534633"/>
            <a:chOff x="0" y="0"/>
            <a:chExt cx="2591638" cy="60461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91689" cy="6046216"/>
            </a:xfrm>
            <a:custGeom>
              <a:avLst/>
              <a:gdLst/>
              <a:ahLst/>
              <a:cxnLst/>
              <a:rect r="r" b="b" t="t" l="l"/>
              <a:pathLst>
                <a:path h="6046216" w="2591689">
                  <a:moveTo>
                    <a:pt x="0" y="0"/>
                  </a:moveTo>
                  <a:lnTo>
                    <a:pt x="2591689" y="0"/>
                  </a:lnTo>
                  <a:lnTo>
                    <a:pt x="2591689" y="6046216"/>
                  </a:lnTo>
                  <a:lnTo>
                    <a:pt x="0" y="604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0970" t="0" r="-24096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02453" y="4103808"/>
            <a:ext cx="1833705" cy="4534633"/>
            <a:chOff x="0" y="0"/>
            <a:chExt cx="2444940" cy="60461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4877" cy="6046216"/>
            </a:xfrm>
            <a:custGeom>
              <a:avLst/>
              <a:gdLst/>
              <a:ahLst/>
              <a:cxnLst/>
              <a:rect r="r" b="b" t="t" l="l"/>
              <a:pathLst>
                <a:path h="6046216" w="2444877">
                  <a:moveTo>
                    <a:pt x="0" y="0"/>
                  </a:moveTo>
                  <a:lnTo>
                    <a:pt x="2444877" y="0"/>
                  </a:lnTo>
                  <a:lnTo>
                    <a:pt x="2444877" y="6046216"/>
                  </a:lnTo>
                  <a:lnTo>
                    <a:pt x="0" y="604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8440" t="0" r="-258442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36159" y="4103808"/>
            <a:ext cx="1681944" cy="4534633"/>
            <a:chOff x="0" y="0"/>
            <a:chExt cx="2242591" cy="60461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2566" cy="6046216"/>
            </a:xfrm>
            <a:custGeom>
              <a:avLst/>
              <a:gdLst/>
              <a:ahLst/>
              <a:cxnLst/>
              <a:rect r="r" b="b" t="t" l="l"/>
              <a:pathLst>
                <a:path h="6046216" w="2242566">
                  <a:moveTo>
                    <a:pt x="0" y="0"/>
                  </a:moveTo>
                  <a:lnTo>
                    <a:pt x="2242566" y="0"/>
                  </a:lnTo>
                  <a:lnTo>
                    <a:pt x="2242566" y="6046216"/>
                  </a:lnTo>
                  <a:lnTo>
                    <a:pt x="0" y="6046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6266" t="0" r="-286267" b="0"/>
              </a:stretch>
            </a:blipFill>
          </p:spPr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431" y="2679221"/>
            <a:ext cx="1259379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0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1771" y="3306023"/>
            <a:ext cx="14233798" cy="405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4"/>
              </a:lnSpc>
            </a:pP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45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multiple linear regression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results show that study hours, sleep hours, and class attendance </a:t>
            </a:r>
            <a:r>
              <a:rPr lang="en-US" sz="345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(p ≈ 0.11)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345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not statistically significant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at the 0.05 level of significance. However, the high R² value (0.989) means that about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98.9% of the variation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in exam scores</a:t>
            </a:r>
            <a:r>
              <a:rPr lang="en-US" sz="345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is explained by the three predictors, indicating a strong fit to the data but not enough evidence to confirm the relationship for a larger population.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7050" y="9239250"/>
            <a:ext cx="9510360" cy="38100"/>
            <a:chOff x="0" y="0"/>
            <a:chExt cx="1268048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12629642" cy="50800"/>
            </a:xfrm>
            <a:custGeom>
              <a:avLst/>
              <a:gdLst/>
              <a:ahLst/>
              <a:cxnLst/>
              <a:rect r="r" b="b" t="t" l="l"/>
              <a:pathLst>
                <a:path h="50800" w="12629642">
                  <a:moveTo>
                    <a:pt x="0" y="0"/>
                  </a:moveTo>
                  <a:lnTo>
                    <a:pt x="12629642" y="0"/>
                  </a:lnTo>
                  <a:lnTo>
                    <a:pt x="1262964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3026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246192" y="2534003"/>
          <a:ext cx="12865100" cy="5676900"/>
        </p:xfrm>
        <a:graphic>
          <a:graphicData uri="http://schemas.openxmlformats.org/drawingml/2006/table">
            <a:tbl>
              <a:tblPr/>
              <a:tblGrid>
                <a:gridCol w="4545681"/>
                <a:gridCol w="4091607"/>
                <a:gridCol w="4227812"/>
              </a:tblGrid>
              <a:tr h="9812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0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77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2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6381647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7108" y="1512761"/>
            <a:ext cx="12593793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65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SLR VS MLR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45487" y="2437857"/>
            <a:ext cx="283285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03659" y="3704682"/>
            <a:ext cx="5863523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No. of Independent Variables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1061" y="2437857"/>
            <a:ext cx="283285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SLR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16573" y="2437857"/>
            <a:ext cx="283285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MLR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07902" y="5310978"/>
            <a:ext cx="350802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7902" y="6886499"/>
            <a:ext cx="350802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26145" y="3868788"/>
            <a:ext cx="2937615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26145" y="5436708"/>
            <a:ext cx="2937615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5123" y="6886499"/>
            <a:ext cx="389965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Basic prediction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03277" y="3983088"/>
            <a:ext cx="2937615" cy="66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2 or more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0036" y="5310978"/>
            <a:ext cx="476886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More complex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23258" y="6543599"/>
            <a:ext cx="3802409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Real-world modeling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1944" y="3943988"/>
            <a:ext cx="12891526" cy="57150"/>
            <a:chOff x="0" y="0"/>
            <a:chExt cx="17188701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7112487" cy="76200"/>
            </a:xfrm>
            <a:custGeom>
              <a:avLst/>
              <a:gdLst/>
              <a:ahLst/>
              <a:cxnLst/>
              <a:rect r="r" b="b" t="t" l="l"/>
              <a:pathLst>
                <a:path h="76200" w="17112487">
                  <a:moveTo>
                    <a:pt x="0" y="0"/>
                  </a:moveTo>
                  <a:lnTo>
                    <a:pt x="17112487" y="0"/>
                  </a:lnTo>
                  <a:lnTo>
                    <a:pt x="171124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360219" y="5863590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7"/>
                </a:lnTo>
                <a:lnTo>
                  <a:pt x="0" y="566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0519" y="1727054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12681" y="5768340"/>
            <a:ext cx="1332151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Show the effect of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house size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(X) on </a:t>
            </a:r>
            <a:r>
              <a:rPr lang="en-US" sz="39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house pice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(Y)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519" y="4080510"/>
            <a:ext cx="12153995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DE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 COEFFICIENTS (B₀, B₁, B₂, …)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4566" y="4857750"/>
            <a:ext cx="8108871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CADED6"/>
                </a:solidFill>
                <a:latin typeface="Arial Bold"/>
                <a:ea typeface="Arial Bold"/>
                <a:cs typeface="Arial Bold"/>
                <a:sym typeface="Arial Bold"/>
              </a:rPr>
              <a:t>EXAMPLE: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6643" y="6936153"/>
            <a:ext cx="10708615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b₁ = 10 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House Price (Y) </a:t>
            </a:r>
            <a:r>
              <a:rPr lang="en-US" sz="390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increases by 10 units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every</a:t>
            </a:r>
            <a:r>
              <a:rPr lang="en-US" sz="3900">
                <a:solidFill>
                  <a:srgbClr val="F2F499"/>
                </a:solidFill>
                <a:latin typeface="Arial"/>
                <a:ea typeface="Arial"/>
                <a:cs typeface="Arial"/>
                <a:sym typeface="Arial"/>
              </a:rPr>
              <a:t> 1-unit increase</a:t>
            </a: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House Size (X).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983079" y="7126653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7"/>
                </a:lnTo>
                <a:lnTo>
                  <a:pt x="0" y="566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0519" y="2707643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REGRESSION OUTPUTS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1944" y="3943988"/>
            <a:ext cx="12891526" cy="57150"/>
            <a:chOff x="0" y="0"/>
            <a:chExt cx="17188701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7112487" cy="76200"/>
            </a:xfrm>
            <a:custGeom>
              <a:avLst/>
              <a:gdLst/>
              <a:ahLst/>
              <a:cxnLst/>
              <a:rect r="r" b="b" t="t" l="l"/>
              <a:pathLst>
                <a:path h="76200" w="17112487">
                  <a:moveTo>
                    <a:pt x="0" y="0"/>
                  </a:moveTo>
                  <a:lnTo>
                    <a:pt x="17112487" y="0"/>
                  </a:lnTo>
                  <a:lnTo>
                    <a:pt x="171124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15326" y="4890002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7"/>
                </a:lnTo>
                <a:lnTo>
                  <a:pt x="0" y="566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446666" y="6232449"/>
          <a:ext cx="8928100" cy="3200400"/>
        </p:xfrm>
        <a:graphic>
          <a:graphicData uri="http://schemas.openxmlformats.org/drawingml/2006/table">
            <a:tbl>
              <a:tblPr/>
              <a:tblGrid>
                <a:gridCol w="3824721"/>
                <a:gridCol w="5103379"/>
              </a:tblGrid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800519" y="1727054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3244" y="4743450"/>
            <a:ext cx="1332151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Shows how much variation in Y is explained by 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519" y="4080510"/>
            <a:ext cx="12153995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DE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 R² (COEFFICIENT OF DETERMINATION)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519" y="2707643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REGRESSION OUTPUTS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8100" y="5492115"/>
            <a:ext cx="3442383" cy="74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365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Range</a:t>
            </a:r>
            <a:r>
              <a:rPr lang="en-US" sz="3654" b="true">
                <a:solidFill>
                  <a:srgbClr val="CADED6"/>
                </a:solidFill>
                <a:latin typeface="Arial Bold"/>
                <a:ea typeface="Arial Bold"/>
                <a:cs typeface="Arial Bold"/>
                <a:sym typeface="Arial Bold"/>
              </a:rPr>
              <a:t>: </a:t>
            </a:r>
            <a:r>
              <a:rPr lang="en-US" sz="3654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0</a:t>
            </a:r>
            <a:r>
              <a:rPr lang="en-US" sz="3654" b="true">
                <a:solidFill>
                  <a:srgbClr val="CADED6"/>
                </a:solidFill>
                <a:latin typeface="Arial Bold"/>
                <a:ea typeface="Arial Bold"/>
                <a:cs typeface="Arial Bold"/>
                <a:sym typeface="Arial Bold"/>
              </a:rPr>
              <a:t> to </a:t>
            </a:r>
            <a:r>
              <a:rPr lang="en-US" sz="3654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56655" y="6194984"/>
            <a:ext cx="2264635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R² Value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4077" y="6194984"/>
            <a:ext cx="456003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Interpretation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4077" y="6953174"/>
            <a:ext cx="4560037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explanation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74816" y="7711364"/>
            <a:ext cx="5021647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Moderate explanation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4816" y="8526704"/>
            <a:ext cx="5021647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Strong explanation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17475" y="7010324"/>
            <a:ext cx="1343006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7475" y="7769142"/>
            <a:ext cx="1343006" cy="72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17475" y="8527971"/>
            <a:ext cx="1343006" cy="133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  <a:p>
            <a:pPr algn="ctr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1944" y="3943988"/>
            <a:ext cx="12891526" cy="57150"/>
            <a:chOff x="0" y="0"/>
            <a:chExt cx="17188701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7112487" cy="76200"/>
            </a:xfrm>
            <a:custGeom>
              <a:avLst/>
              <a:gdLst/>
              <a:ahLst/>
              <a:cxnLst/>
              <a:rect r="r" b="b" t="t" l="l"/>
              <a:pathLst>
                <a:path h="76200" w="17112487">
                  <a:moveTo>
                    <a:pt x="0" y="0"/>
                  </a:moveTo>
                  <a:lnTo>
                    <a:pt x="17112487" y="0"/>
                  </a:lnTo>
                  <a:lnTo>
                    <a:pt x="171124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906353" y="5048250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7"/>
                </a:lnTo>
                <a:lnTo>
                  <a:pt x="0" y="566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4353995" y="6064874"/>
          <a:ext cx="8928100" cy="2857500"/>
        </p:xfrm>
        <a:graphic>
          <a:graphicData uri="http://schemas.openxmlformats.org/drawingml/2006/table">
            <a:tbl>
              <a:tblPr/>
              <a:tblGrid>
                <a:gridCol w="3824721"/>
                <a:gridCol w="5103379"/>
              </a:tblGrid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800519" y="1727054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98899" y="4953000"/>
            <a:ext cx="13321513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Tests if the variable is </a:t>
            </a:r>
            <a:r>
              <a:rPr lang="en-US" sz="3900" u="sng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statistically significant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519" y="4080510"/>
            <a:ext cx="12153995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DE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 P-VALUE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519" y="2707643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REGRESSION OUTPUTS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79921" y="6113212"/>
            <a:ext cx="2264635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p-value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94478" y="6113212"/>
            <a:ext cx="456003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Decision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94478" y="7052377"/>
            <a:ext cx="456003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64439" y="7992180"/>
            <a:ext cx="502164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 Significant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49352" y="7052377"/>
            <a:ext cx="2525782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≤ 0.05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79921" y="7992180"/>
            <a:ext cx="2264635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 0.05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1944" y="3943988"/>
            <a:ext cx="12891526" cy="57150"/>
            <a:chOff x="0" y="0"/>
            <a:chExt cx="17188701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0"/>
              <a:ext cx="17112487" cy="76200"/>
            </a:xfrm>
            <a:custGeom>
              <a:avLst/>
              <a:gdLst/>
              <a:ahLst/>
              <a:cxnLst/>
              <a:rect r="r" b="b" t="t" l="l"/>
              <a:pathLst>
                <a:path h="76200" w="17112487">
                  <a:moveTo>
                    <a:pt x="0" y="0"/>
                  </a:moveTo>
                  <a:lnTo>
                    <a:pt x="17112487" y="0"/>
                  </a:lnTo>
                  <a:lnTo>
                    <a:pt x="171124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ADED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512371" y="5143500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7"/>
                </a:lnTo>
                <a:lnTo>
                  <a:pt x="0" y="566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0519" y="1727054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AND 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20472" y="4937760"/>
            <a:ext cx="11364087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Range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where the </a:t>
            </a:r>
            <a:r>
              <a:rPr lang="en-US" sz="45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true value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of the coefficient is likely found.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519" y="4080510"/>
            <a:ext cx="1215399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sz="4500" b="true">
                <a:solidFill>
                  <a:srgbClr val="FFDE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 CONFIDENCE INTERVAL (CI)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519" y="2707643"/>
            <a:ext cx="14727841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C1FF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REGRESSION OUTPUTS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20472" y="6867525"/>
            <a:ext cx="1136408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8"/>
              </a:lnSpc>
            </a:pP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45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CI does not include 0</a:t>
            </a:r>
            <a:r>
              <a:rPr lang="en-US" sz="45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4500">
                <a:solidFill>
                  <a:srgbClr val="FFDE59"/>
                </a:solidFill>
                <a:latin typeface="Arial"/>
                <a:ea typeface="Arial"/>
                <a:cs typeface="Arial"/>
                <a:sym typeface="Arial"/>
              </a:rPr>
              <a:t>significant.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512371" y="7072112"/>
            <a:ext cx="782774" cy="566537"/>
          </a:xfrm>
          <a:custGeom>
            <a:avLst/>
            <a:gdLst/>
            <a:ahLst/>
            <a:cxnLst/>
            <a:rect r="r" b="b" t="t" l="l"/>
            <a:pathLst>
              <a:path h="566537" w="782774">
                <a:moveTo>
                  <a:pt x="0" y="0"/>
                </a:moveTo>
                <a:lnTo>
                  <a:pt x="782774" y="0"/>
                </a:lnTo>
                <a:lnTo>
                  <a:pt x="782774" y="566538"/>
                </a:lnTo>
                <a:lnTo>
                  <a:pt x="0" y="56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" t="0" r="-59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93110" y="4350572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5" y="0"/>
                </a:lnTo>
                <a:lnTo>
                  <a:pt x="3426485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668405" y="-3879028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5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5" y="0"/>
                </a:lnTo>
                <a:lnTo>
                  <a:pt x="3426485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028700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1005860"/>
                </a:moveTo>
                <a:lnTo>
                  <a:pt x="5183534" y="1005860"/>
                </a:lnTo>
                <a:lnTo>
                  <a:pt x="5183534" y="0"/>
                </a:lnTo>
                <a:lnTo>
                  <a:pt x="0" y="0"/>
                </a:lnTo>
                <a:lnTo>
                  <a:pt x="0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34193" y="8477269"/>
            <a:ext cx="1250213" cy="129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2"/>
              </a:lnSpc>
            </a:pPr>
            <a:r>
              <a:rPr lang="en-US" sz="6751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4438" y="1785699"/>
            <a:ext cx="12593793" cy="98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3"/>
              </a:lnSpc>
            </a:pPr>
            <a:r>
              <a:rPr lang="en-US" sz="6900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47949" y="2973581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Simple Linear Regression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one predictor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7949" y="3956752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Multiple Linear Regression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multiple predictors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7949" y="4943542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Coefficients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effect of variables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47949" y="5930332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R²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model strength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47949" y="6917122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p-value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significance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47949" y="7903912"/>
            <a:ext cx="11533699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 b="true">
                <a:solidFill>
                  <a:srgbClr val="C1FF72"/>
                </a:solidFill>
                <a:latin typeface="Arial Bold"/>
                <a:ea typeface="Arial Bold"/>
                <a:cs typeface="Arial Bold"/>
                <a:sym typeface="Arial Bold"/>
              </a:rPr>
              <a:t>Confidence Interval</a:t>
            </a:r>
            <a:r>
              <a:rPr lang="en-US" sz="3900">
                <a:solidFill>
                  <a:srgbClr val="CADED6"/>
                </a:solidFill>
                <a:latin typeface="Arial"/>
                <a:ea typeface="Arial"/>
                <a:cs typeface="Arial"/>
                <a:sym typeface="Arial"/>
              </a:rPr>
              <a:t> → reliability of estimates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960762" y="3164081"/>
            <a:ext cx="604190" cy="5579888"/>
          </a:xfrm>
          <a:custGeom>
            <a:avLst/>
            <a:gdLst/>
            <a:ahLst/>
            <a:cxnLst/>
            <a:rect r="r" b="b" t="t" l="l"/>
            <a:pathLst>
              <a:path h="5579888" w="604190">
                <a:moveTo>
                  <a:pt x="0" y="0"/>
                </a:moveTo>
                <a:lnTo>
                  <a:pt x="604190" y="0"/>
                </a:lnTo>
                <a:lnTo>
                  <a:pt x="604190" y="5579888"/>
                </a:lnTo>
                <a:lnTo>
                  <a:pt x="0" y="55798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1137" y="2689641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0" y="0"/>
                </a:moveTo>
                <a:lnTo>
                  <a:pt x="3426486" y="0"/>
                </a:lnTo>
                <a:lnTo>
                  <a:pt x="3426486" y="9815446"/>
                </a:lnTo>
                <a:lnTo>
                  <a:pt x="0" y="981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19623" y="-2218087"/>
            <a:ext cx="3426485" cy="9815446"/>
          </a:xfrm>
          <a:custGeom>
            <a:avLst/>
            <a:gdLst/>
            <a:ahLst/>
            <a:cxnLst/>
            <a:rect r="r" b="b" t="t" l="l"/>
            <a:pathLst>
              <a:path h="9815446" w="3426485">
                <a:moveTo>
                  <a:pt x="3426486" y="9815446"/>
                </a:moveTo>
                <a:lnTo>
                  <a:pt x="0" y="9815446"/>
                </a:lnTo>
                <a:lnTo>
                  <a:pt x="0" y="0"/>
                </a:lnTo>
                <a:lnTo>
                  <a:pt x="3426486" y="0"/>
                </a:lnTo>
                <a:lnTo>
                  <a:pt x="3426486" y="98154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4" r="0" b="-42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04341" y="3869941"/>
            <a:ext cx="12679309" cy="210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35"/>
              </a:lnSpc>
            </a:pPr>
            <a:r>
              <a:rPr lang="en-US" sz="11025" b="true">
                <a:solidFill>
                  <a:srgbClr val="CADE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2075766" y="5257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5183534" y="1005860"/>
                </a:moveTo>
                <a:lnTo>
                  <a:pt x="0" y="1005860"/>
                </a:lnTo>
                <a:lnTo>
                  <a:pt x="0" y="0"/>
                </a:lnTo>
                <a:lnTo>
                  <a:pt x="5183534" y="0"/>
                </a:lnTo>
                <a:lnTo>
                  <a:pt x="5183534" y="10058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755370"/>
            <a:ext cx="5183534" cy="1005859"/>
          </a:xfrm>
          <a:custGeom>
            <a:avLst/>
            <a:gdLst/>
            <a:ahLst/>
            <a:cxnLst/>
            <a:rect r="r" b="b" t="t" l="l"/>
            <a:pathLst>
              <a:path h="1005859" w="5183534">
                <a:moveTo>
                  <a:pt x="0" y="0"/>
                </a:moveTo>
                <a:lnTo>
                  <a:pt x="5183534" y="0"/>
                </a:lnTo>
                <a:lnTo>
                  <a:pt x="5183534" y="1005860"/>
                </a:lnTo>
                <a:lnTo>
                  <a:pt x="0" y="1005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88" r="0" b="-58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DAHIMXG8Z6o</dc:identifier>
  <dcterms:modified xsi:type="dcterms:W3CDTF">2011-08-01T06:04:30Z</dcterms:modified>
  <cp:revision>1</cp:revision>
  <dc:title>IT 221(Quantitative Methods)_Group 4.pptx</dc:title>
</cp:coreProperties>
</file>